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83" d="100"/>
          <a:sy n="83" d="100"/>
        </p:scale>
        <p:origin x="189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适用场景占比(%)</c:v>
          </c:tx>
          <c:spPr>
            <a:solidFill>
              <a:srgbClr val="00A5B2"/>
            </a:solidFill>
          </c:spPr>
          <c:invertIfNegative val="1"/>
          <c:cat>
            <c:strRef>
              <c:f>Sheet0!$A$2:$A$7</c:f>
              <c:strCache>
                <c:ptCount val="6"/>
                <c:pt idx="0">
                  <c:v>柱状图</c:v>
                </c:pt>
                <c:pt idx="1">
                  <c:v>折线图</c:v>
                </c:pt>
                <c:pt idx="2">
                  <c:v>饼状图</c:v>
                </c:pt>
                <c:pt idx="3">
                  <c:v>条形图</c:v>
                </c:pt>
                <c:pt idx="4">
                  <c:v>散点图</c:v>
                </c:pt>
                <c:pt idx="5">
                  <c:v>地图</c:v>
                </c:pt>
              </c:strCache>
            </c:strRef>
          </c:cat>
          <c:val>
            <c:numRef>
              <c:f>Sheet0!$B$2:$B$7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68-4E7F-A57F-1CED4B8B66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7566015"/>
        <c:axId val="1"/>
      </c:barChart>
      <c:catAx>
        <c:axId val="2007566015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crossAx val="1"/>
        <c:crosses val="autoZero"/>
        <c:auto val="0"/>
        <c:lblAlgn val="ctr"/>
        <c:lblOffset val="100"/>
        <c:noMultiLvlLbl val="1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crossAx val="2007566015"/>
        <c:crosses val="autoZero"/>
        <c:crossBetween val="between"/>
      </c:valAx>
    </c:plotArea>
    <c:legend>
      <c:legendPos val="t"/>
      <c:overlay val="0"/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1.xml.png" type="slideLayout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55094" y="-277003"/>
            <a:ext cx="10054172" cy="3326979"/>
          </a:xfrm>
          <a:prstGeom prst="rect">
            <a:avLst/>
          </a:prstGeom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4050" b="1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Office高效办公教程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eyJfdGVtcGxhdGVEYXRhIjp7ImNvbnRlbnRUeXBlIjoiJHRpdGxlIiwibGluZUNvdW50IjoiMiIsIndvcmRDb3VudCI6IjEzIn0sInRhZyI6IiR0aXRsZSJ9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eyJtZCI6Ik9mZmljZemrmOaViOWKnuWFrOaVmeeoiyIsInRwbGlkIjoiNzIiLCJ0cGxOYW1lIjoidGl0bGVfNzJibHVlSW5rMjMxMjIwMDEiLCJlZGl0ZWQiOiJmYWxzZSJ9</bd:templateDa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eyJfdGVtcGxhdGVEYXRhIjp7ImNvbnRlbnRUeXBlIjoiIn0sInRhZyI6Im5vRWRpdCJ9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333375" y="1552575"/>
            <a:ext cx="5724525" cy="8477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 b="1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目 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eyJfdGVtcGxhdGVEYXRhIjp7ImxpbmVDb3VudCI6IjEiLCJ3b3JkQ291bnQiOiI3In0sInRhZyI6Im5vRWRpdCJ9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3924900" y="1371489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4620225" y="1421023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Office基础入门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eyJfdGVtcGxhdGVEYXRhIjp7ImNvbnRlbnRUeXBlIjoiJGNhdGEwIiwibGluZUNvdW50IjoiMSIsIndvcmRDb3VudCI6IjE0In0sInRhZyI6Im5vRWRpdCJ9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3924900" y="2080236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620225" y="2125957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Word文档处理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eyJfdGVtcGxhdGVEYXRhIjp7ImNvbnRlbnRUeXBlIjoiJGNhdGExIiwibGluZUNvdW50IjoiMSIsIndvcmRDb3VudCI6IjE0In0sInRhZyI6Im5vRWRpdCJ9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3924900" y="2788982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620225" y="2844228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Excel数据处理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eyJfdGVtcGxhdGVEYXRhIjp7ImNvbnRlbnRUeXBlIjoiJGNhdGEyIiwibGluZUNvdW50IjoiMSIsIndvcmRDb3VudCI6IjE0In0sInRhZyI6Im5vRWRpdCJ9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3934425" y="3497729"/>
            <a:ext cx="5619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620225" y="3552975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PowerPoint演示制作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eyJfdGVtcGxhdGVEYXRhIjp7ImNvbnRlbnRUeXBlIjoiJGNhdGEzIiwibGluZUNvdW50IjoiMSIsIndvcmRDb3VudCI6IjE0In0sInRhZyI6Im5vRWRpdCJ9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3924900" y="4204814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4620225" y="4229581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Office协同办公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eyJfdGVtcGxhdGVEYXRhIjp7ImNvbnRlbnRUeXBlIjoiJGNhdGE0IiwibGluZUNvdW50IjoiMSIsIndvcmRDb3VudCI6IjE0In0sInRhZyI6Im5vRWRpdCJ9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3928239" y="4904106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623564" y="4947924"/>
            <a:ext cx="4210541" cy="281974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Office高级功能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eyJfdGVtcGxhdGVEYXRhIjp7ImNvbnRlbnRUeXBlIjoiJGNhdGE1IiwibGluZUNvdW50IjoiMSIsIndvcmRDb3VudCI6IjE0In0sInRhZyI6Im5vRWRpdCJ9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eyJtZCI6IuebruW9lVxuT2ZmaWNl5Z+656GA5YWl6ZeoXG5Xb3Jk5paH5qGj5aSE55CGXG5FeGNlbOaVsOaNruWkhOeQhlxuUG93ZXJQb2ludOa8lOekuuWItuS9nFxuT2ZmaWNl5Y2P5ZCM5Yqe5YWsXG5PZmZpY2Xpq5jnuqflip/og70iLCJ0cGxpZCI6IjcyIiwidHBsTmFtZSI6ImNhdGFMaXN0XzcyYmx1ZUluazYiLCJlZGl0ZWQiOiJmYWxzZSJ9</bd:templateData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Office基础入门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eyJtZCI6IiMjIE9mZmljZeWfuuehgOWFpemXqCIsInRwbGlkIjoiNzIiLCJ0cGxOYW1lIjoiaDJ0aXRsZV83MmJsdWVJbmsyMzEyMjAwMSIsImVkaXRlZCI6ImZhbHNlIn0=</bd:templateDa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Office组件概述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Freeform 4"/>
          <p:cNvSpPr/>
          <p:nvPr/>
        </p:nvSpPr>
        <p:spPr>
          <a:xfrm>
            <a:off x="4509171" y="1790522"/>
            <a:ext cx="583851" cy="3533966"/>
          </a:xfrm>
          <a:custGeom>
            <a:avLst/>
            <a:gdLst/>
            <a:ahLst/>
            <a:cxnLst/>
            <a:rect l="l" t="t" r="r" b="b"/>
            <a:pathLst>
              <a:path w="583851" h="3533966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5347614" y="506720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演示创作平台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eyJfdGVtcGxhdGVEYXRhIjp7ImNvbnRlbnRUeXBlIjoiJGl0ZW0zX3RpdGxlIiwibGluZUNvdW50IjoiMSIsIndvcmRDb3VudCI6IjEyIn0sInRhZyI6IiRpdGVtM190aXRsZSJ9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5452715" y="5573201"/>
            <a:ext cx="5194466" cy="96479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Microsoft PowerPoint提供幻灯片设计、动画效果和演讲者视图，内置智能设计建议和3D模型插入功能，可创建具备专业视觉效果的商业演示文稿。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eyJfdGVtcGxhdGVEYXRhIjp7ImNvbnRlbnRUeXBlIjoiJGl0ZW0zX2MiLCJsaW5lQ291bnQiOiIzIiwid29yZENvdW50IjoiMjgifSwidGFnIjoiJGl0ZW0zX2MifQ==</bd:templateData>
          </p:ext>
        </p:extLst>
      </p:sp>
      <p:sp>
        <p:nvSpPr>
          <p:cNvPr id="8" name="AutoShape 8"/>
          <p:cNvSpPr/>
          <p:nvPr/>
        </p:nvSpPr>
        <p:spPr>
          <a:xfrm>
            <a:off x="5347614" y="3298365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数据分析利器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5452715" y="3804364"/>
            <a:ext cx="5194466" cy="1061273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Microsoft Excel具备强大的电子表格功能，包含数据透视表、VLOOKUP等450+函数，支持财务建模、统计分析及可视化图表生成，是企业数据管理的标准工具。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eyJfdGVtcGxhdGVEYXRhIjp7ImNvbnRlbnRUeXBlIjoiJGl0ZW0yX2MiLCJsaW5lQ291bnQiOiI0Iiwid29yZENvdW50IjoiMjgifSwidGFnIjoiJGl0ZW0yX2MifQ==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5347614" y="155656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AutoShape 12"/>
          <p:cNvSpPr/>
          <p:nvPr/>
        </p:nvSpPr>
        <p:spPr>
          <a:xfrm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文档处理核心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5452715" y="2062560"/>
            <a:ext cx="5194466" cy="105794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Microsoft Word是专业的文字处理软件，提供从基础文本编辑到复杂排版的全套工具，支持邮件合并、目录自动生成等高级功能，适用于报告、论文等专业文档制作。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e7hOS7tuamgui/sFxuIyMjIOaWh+aho+WkhOeQhuaguOW/g1xuTWljcm9zb2Z0IFdvcmTmmK/kuJPkuJrnmoTmloflrZflpITnkIbova/ku7bvvIzmj5Dkvpvku47ln7rnoYDmlofmnKznvJbovpHliLDlpI3mnYLmjpLniYjnmoTlhajlpZflt6XlhbfvvIzmlK/mjIHpgq7ku7blkIjlubbjgIHnm67lvZXoh6rliqjnlJ/miJDnrYnpq5jnuqflip/og73vvIzpgILnlKjkuo7miqXlkYrjgIHorrrmlofnrYnkuJPkuJrmlofmoaPliLbkvZzjgIJcbiMjIyDmlbDmja7liIbmnpDliKnlmahcbk1pY3Jvc29mdCBFeGNlbOWFt+Wkh+W8uuWkp+eahOeUteWtkOihqOagvOWKn+iDve+8jOWMheWQq+aVsOaNrumAj+inhuihqOOAgVZMT09LVVDnrYk0NTAr5Ye95pWw77yM5pSv5oyB6LSi5Yqh5bu65qih44CB57uf6K6h5YiG5p6Q5Y+K5Y+v6KeG5YyW5Zu+6KGo55Sf5oiQ77yM5piv5LyB5Lia5pWw5o2u566h55CG55qE5qCH5YeG5bel5YW344CCXG4jIyMg5ryU56S65Yib5L2c5bmz5Y+wXG5NaWNyb3NvZnQgUG93ZXJQb2ludOaPkOS+m+W5u+eBr+eJh+iuvuiuoeOAgeWKqOeUu+aViOaenOWSjOa8lOiusuiAheinhuWbvu+8jOWGhee9ruaZuuiDveiuvuiuoeW7uuiuruWSjDNE5qih5Z6L5o+S5YWl5Yqf6IO977yM5Y+v5Yib5bu65YW35aSH5LiT5Lia6KeG6KeJ5pWI5p6c55qE5ZWG5Lia5ryU56S65paH56i/44CCIiwidHBsaWQiOiI3MiIsInRwbE5hbWUiOiJsaXN0M18yMDI1MDYyNjA5IiwiZWRpdGVkIjoiZmFsc2UifQ==</bd:templateData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578633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界面功能解析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 l="17208" r="17208"/>
          <a:stretch>
            <a:fillRect/>
          </a:stretch>
        </p:blipFill>
        <p:spPr>
          <a:xfrm>
            <a:off x="6784661" y="1575177"/>
            <a:ext cx="274320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 t="10407" b="10407"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 l="41094" r="41094"/>
          <a:stretch>
            <a:fillRect/>
          </a:stretch>
        </p:blipFill>
        <p:spPr>
          <a:xfrm>
            <a:off x="9866115" y="1575177"/>
            <a:ext cx="154305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382164" y="1579985"/>
            <a:ext cx="2088193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功能区架构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采用选项卡式功能区设计（如"开始"、"插入"、"页面布局"等），每个选项卡包含逻辑分组的命令按钮，支持通过右键菜单自定义快速访问工具栏。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eyJfdGVtcGxhdGVEYXRhIjp7ImNvbnRlbnRUeXBlIjoiJGl0ZW0xX2MiLCJsaW5lQ291bnQiOiI2Iiwid29yZENvdW50IjoiMTQifSwidGFnIjoiJGl0ZW0xX2MifQ==</bd:templateData>
          </p:ext>
        </p:extLst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97683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4431599" y="157998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上下文选项卡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当选中特定对象（如图表、图片）时自动激活专用选项卡（如"图片工具-格式"），提供对象相关的精细化控制参数。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eyJfdGVtcGxhdGVEYXRhIjp7ImNvbnRlbnRUeXBlIjoiJGl0ZW0yX2MiLCJsaW5lQ291bnQiOiI2Iiwid29yZENvdW50IjoiMTQifSwidGFnIjoiJGl0ZW0yX2MifQ==</bd:templateData>
          </p:ext>
        </p:extLst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1382164" y="402489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后台视图入口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通过"文件"选项卡进入后台视图，可访问账户管理、选项设置、文档打印及共享等系统级功能。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eyJfdGVtcGxhdGVEYXRhIjp7ImNvbnRlbnRUeXBlIjoiJGl0ZW0zX2MiLCJsaW5lQ291bnQiOiI2Iiwid29yZENvdW50IjoiMTQifSwidGFnIjoiJGl0ZW0zX2MifQ==</bd:templateData>
          </p:ext>
        </p:extLst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8" name="AutoShape 28"/>
          <p:cNvSpPr/>
          <p:nvPr/>
        </p:nvSpPr>
        <p:spPr>
          <a:xfrm>
            <a:off x="3628068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9" name="TextBox 29"/>
          <p:cNvSpPr txBox="1"/>
          <p:nvPr/>
        </p:nvSpPr>
        <p:spPr>
          <a:xfrm>
            <a:off x="4431599" y="402489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状态栏定制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eyJfdGVtcGxhdGVEYXRhIjp7ImNvbnRlbnRUeXBlIjoiJGl0ZW00X3RpdGxlIiwibGluZUNvdW50IjoiMSIsIndvcmRDb3VudCI6IjgifSwidGFnIjoiJGl0ZW00X3RpdGxlIn0=</bd:templateData>
          </p:ext>
        </p:extLst>
      </p:sp>
      <p:sp>
        <p:nvSpPr>
          <p:cNvPr id="30" name="AutoShape 30"/>
          <p:cNvSpPr/>
          <p:nvPr/>
        </p:nvSpPr>
        <p:spPr>
          <a:xfrm rot="5400000">
            <a:off x="3717225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4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1" name="TextBox 31"/>
          <p:cNvSpPr txBox="1"/>
          <p:nvPr/>
        </p:nvSpPr>
        <p:spPr>
          <a:xfrm>
            <a:off x="3805973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底部状态栏显示页码、字数统计等信息，右键单击可配置显示/隐藏特定指标，支持幻灯片预览模式和Excel即时计算功能。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eyJfdGVtcGxhdGVEYXRhIjp7ImNvbnRlbnRUeXBlIjoiJGl0ZW00X2MiLCJsaW5lQ291bnQiOiI2Iiwid29yZENvdW50IjoiMTQifSwidGFnIjoiJGl0ZW00X2MifQ==</bd:templateData>
          </p:ext>
        </p:extLst>
      </p:sp>
      <p:sp>
        <p:nvSpPr>
          <p:cNvPr id="32" name="AutoShape 32"/>
          <p:cNvSpPr/>
          <p:nvPr/>
        </p:nvSpPr>
        <p:spPr>
          <a:xfrm rot="5400000">
            <a:off x="3707910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4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3" name="TextBox 33"/>
          <p:cNvSpPr txBox="1"/>
          <p:nvPr/>
        </p:nvSpPr>
        <p:spPr>
          <a:xfrm>
            <a:off x="3647118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4" name="TextBox 34"/>
          <p:cNvSpPr txBox="1"/>
          <p:nvPr/>
        </p:nvSpPr>
        <p:spPr>
          <a:xfrm>
            <a:off x="597683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5" name="TextBox 35"/>
          <p:cNvSpPr txBox="1"/>
          <p:nvPr/>
        </p:nvSpPr>
        <p:spPr>
          <a:xfrm>
            <a:off x="3647118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VjOmdouWKn+iDveino+aekFxuIyMjIOWKn+iDveWMuuaetuaehFxu6YeH55So6YCJ6aG55Y2h5byP5Yqf6IO95Yy66K6+6K6h77yI5aaCXCLlvIDlp4tcIuOAgVwi5o+S5YWlXCLjgIFcIumhtemdouW4g+WxgFwi562J77yJ77yM5q+P5Liq6YCJ6aG55Y2h5YyF5ZCr6YC76L6R5YiG57uE55qE5ZG95Luk5oyJ6ZKu77yM5pSv5oyB6YCa6L+H5Y+z6ZSu6I+c5Y2V6Ieq5a6a5LmJ5b+r6YCf6K6/6Zeu5bel5YW35qCP44CCXG4jIyMg5LiK5LiL5paH6YCJ6aG55Y2hXG7lvZPpgInkuK3nibnlrprlr7nosaHvvIjlpoLlm77ooajjgIHlm77niYfvvInml7boh6rliqjmv4DmtLvkuJPnlKjpgInpobnljaHvvIjlpoJcIuWbvueJh+W3peWFty3moLzlvI9cIu+8ie+8jOaPkOS+m+WvueixoeebuOWFs+eahOeyvue7huWMluaOp+WItuWPguaVsOOAglxuIyMjIOWQjuWPsOinhuWbvuWFpeWPo1xu6YCa6L+HXCLmlofku7ZcIumAiemhueWNoei/m+WFpeWQjuWPsOinhuWbvu+8jOWPr+iuv+mXrui0puaIt+euoeeQhuOAgemAiemhueiuvue9ruOAgeaWh+aho+aJk+WNsOWPiuWFseS6q+etieezu+e7n+e6p+WKn+iDveOAglxuIyMjIOeKtuaAgeagj+WumuWItlxu5bqV6YOo54q25oCB5qCP5pi+56S66aG156CB44CB5a2X5pWw57uf6K6h562J5L+h5oGv77yM5Y+z6ZSu5Y2V5Ye75Y+v6YWN572u5pi+56S6L+makOiXj+eJueWumuaMh+agh++8jOaUr+aMgeW5u+eBr+eJh+mihOiniOaooeW8j+WSjEV4Y2Vs5Y2z5pe26K6h566X5Yqf6IO944CCIiwidHBsaWQiOiI3MiIsInRwbE5hbWUiOiJsaXN0NF8yMDI1MDcwMzE4IiwiZWRpdGVkIjoiZmFsc2UifQ==</bd:templateData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基础操作技巧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6" name="Freeform 6"/>
          <p:cNvSpPr/>
          <p:nvPr/>
        </p:nvSpPr>
        <p:spPr>
          <a:xfrm>
            <a:off x="751830" y="3591361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Freeform 7"/>
          <p:cNvSpPr/>
          <p:nvPr/>
        </p:nvSpPr>
        <p:spPr>
          <a:xfrm>
            <a:off x="4307248" y="3591655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Freeform 8"/>
          <p:cNvSpPr/>
          <p:nvPr/>
        </p:nvSpPr>
        <p:spPr>
          <a:xfrm>
            <a:off x="7884299" y="3591655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 t="18814" b="18814"/>
          <a:stretch>
            <a:fillRect/>
          </a:stretch>
        </p:blipFill>
        <p:spPr>
          <a:xfrm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2" name="TextBox 12"/>
          <p:cNvSpPr txBox="1"/>
          <p:nvPr/>
        </p:nvSpPr>
        <p:spPr>
          <a:xfrm>
            <a:off x="1074382" y="4420514"/>
            <a:ext cx="2914491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924823" y="4971031"/>
            <a:ext cx="3213608" cy="1242957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通过搜索本地/在线模板快速创建专业文档，支持将自定义文档保存为模板文件（.dotx/.potx/.xltx）供团队复用。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eyJfdGVtcGxhdGVEYXRhIjp7ImNvbnRlbnRUeXBlIjoiJGl0ZW0xX2MiLCJsaW5lQ291bnQiOiI0Iiwid29yZENvdW50IjoiMTUifSwidGFnIjoiJGl0ZW0xX2MifQ==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4612719" y="1571876"/>
            <a:ext cx="2954298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协同编辑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eyJfdGVtcGxhdGVEYXRhIjp7ImNvbnRlbnRUeXBlIjoiJGl0ZW0yX3RpdGxlIiwibGluZUNvdW50IjoiNCIsIndvcmRDb3VudCI6IjE1In0sInRhZyI6IiRpdGVtMl90aXRsZSJ9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467838" y="2070075"/>
            <a:ext cx="3244061" cy="1242957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使用"共享"功能实现多人实时协作，通过修订标记跟踪修改记录，结合批注功能完成跨部门文档审阅。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eyJfdGVtcGxhdGVEYXRhIjp7ImNvbnRlbnRUeXBlIjoiJGl0ZW0yX2MiLCJsaW5lQ291bnQiOiI0Iiwid29yZENvdW50IjoiMTUifSwidGFnIjoiJGl0ZW0yX2MifQ==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8146416" y="4420514"/>
            <a:ext cx="2954412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快捷操作体系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8021552" y="4971031"/>
            <a:ext cx="3204140" cy="1242957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掌握Ctrl+C/V/X等基础快捷键，配合F4重复上步操作、Alt键激活快捷键提示等高效操作方式，显著提升工作效率。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eyJfdGVtcGxhdGVEYXRhIjp7ImNvbnRlbnRUeXBlIjoiJGl0ZW0zX2MiLCJsaW5lQ291bnQiOiI0Iiwid29yZENvdW50IjoiMTUifSwidGFnIjoiJGl0ZW0zX2MifQ==</bd:templateData>
          </p:ext>
        </p:extLst>
      </p:sp>
      <p:sp>
        <p:nvSpPr>
          <p:cNvPr id="18" name="Freeform 18"/>
          <p:cNvSpPr/>
          <p:nvPr/>
        </p:nvSpPr>
        <p:spPr>
          <a:xfrm>
            <a:off x="2334095" y="3665624"/>
            <a:ext cx="412521" cy="41252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9" name="Freeform 19"/>
          <p:cNvSpPr/>
          <p:nvPr/>
        </p:nvSpPr>
        <p:spPr>
          <a:xfrm>
            <a:off x="5927547" y="3703953"/>
            <a:ext cx="336452" cy="33645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0" name="Freeform 20"/>
          <p:cNvSpPr/>
          <p:nvPr/>
        </p:nvSpPr>
        <p:spPr>
          <a:xfrm>
            <a:off x="9494081" y="3693435"/>
            <a:ext cx="357486" cy="3574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fuuehgOaTjeS9nOaKgOW3p1xuIyMjIOaooeadv+W6lOeUqFxu6YCa6L+H5pCc57Si5pys5ZywL+WcqOe6v+aooeadv+W/q+mAn+WIm+W7uuS4k+S4muaWh+aho++8jOaUr+aMgeWwhuiHquWumuS5ieaWh+aho+S/neWtmOS4uuaooeadv+aWh+S7tu+8iC5kb3R4Ly5wb3R4Ly54bHR477yJ5L6b5Zui6Zif5aSN55So44CCXG4jIyMg5Y2P5ZCM57yW6L6RXG7kvb/nlKhcIuWFseS6q1wi5Yqf6IO95a6e546w5aSa5Lq65a6e5pe25Y2P5L2c77yM6YCa6L+H5L+u6K6i5qCH6K6w6Lef6Liq5L+u5pS56K6w5b2V77yM57uT5ZCI5om55rOo5Yqf6IO95a6M5oiQ6Leo6YOo6Zeo5paH5qGj5a6h6ZiF44CCXG4jIyMg5b+r5o235pON5L2c5L2T57O7XG7mjozmj6FDdHJsK0MvVi9Y562J5Z+656GA5b+r5o236ZSu77yM6YWN5ZCIRjTph43lpI3kuIrmraXmk43kvZzjgIFBbHTplK7mv4DmtLvlv6vmjbfplK7mj5DnpLrnrYnpq5jmlYjmk43kvZzmlrnlvI/vvIzmmL7okZfmj5DljYflt6XkvZzmlYjnjofjgIIiLCJ0cGxpZCI6IjcyIiwidHBsTmFtZSI6Imxpc3QzXzIwMjUwNzAxMDkiLCJlZGl0ZWQiOiJmYWxzZSJ9</bd:templateData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Word文档处理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eyJtZCI6IiMjIFdvcmTmlofmoaPlpITnkIYiLCJ0cGxpZCI6IjcyIiwidHBsTmFtZSI6ImgydGl0bGVfNzJibHVlSW5rMjMxMjIwMDEiLCJlZGl0ZWQiOiJmYWxzZSJ9</bd:templateData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文档创建与格式设置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23948" r="23948"/>
          <a:stretch>
            <a:fillRect/>
          </a:stretch>
        </p:blipFill>
        <p:spPr>
          <a:xfrm>
            <a:off x="580909" y="1271253"/>
            <a:ext cx="2628508" cy="50447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AutoShape 4"/>
          <p:cNvSpPr/>
          <p:nvPr/>
        </p:nvSpPr>
        <p:spPr>
          <a:xfrm>
            <a:off x="3372015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3512796" y="2561882"/>
            <a:ext cx="2346946" cy="31482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Word提供丰富的内置模板（如简历、报告、信函等），用户可通过“文件”&gt;“新建”搜索联机模板，快速生成专业格式文档，避免从零开始设计。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eyJfdGVtcGxhdGVEYXRhIjp7ImNvbnRlbnRUeXBlIjoiJGl0ZW0xX2MiLCJsaW5lQ291bnQiOiIxMCIsIndvcmRDb3VudCI6IjExIn0sInRhZyI6IiRpdGVtMV9jIn0=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3512796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模板选择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eyJfdGVtcGxhdGVEYXRhIjp7ImNvbnRlbnRUeXBlIjoiJGl0ZW0xX3RpdGxlIiwibGluZUNvdW50IjoiMiIsIndvcmRDb3VudCI6IjUifSwidGFnIjoiJGl0ZW0xX3RpdGxlIn0=</bd:templateData>
          </p:ext>
        </p:extLst>
      </p:sp>
      <p:sp>
        <p:nvSpPr>
          <p:cNvPr id="7" name="AutoShape 7"/>
          <p:cNvSpPr/>
          <p:nvPr/>
        </p:nvSpPr>
        <p:spPr>
          <a:xfrm>
            <a:off x="6156270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6297050" y="2561882"/>
            <a:ext cx="2346946" cy="301516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在“开始”选项卡中可设置字体（如宋体/微软雅黑）、字号（12pt/14pt）、段落对齐（左对齐/居中）及行距（1.5倍/固定值），确保文档整洁易读。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eyJfdGVtcGxhdGVEYXRhIjp7ImNvbnRlbnRUeXBlIjoiJGl0ZW0yX2MiLCJsaW5lQ291bnQiOiIxMCIsIndvcmRDb3VudCI6IjExIn0sInRhZyI6IiRpdGVtMl9jIn0=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6297050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基础格式调整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eyJfdGVtcGxhdGVEYXRhIjp7ImNvbnRlbnRUeXBlIjoiJGl0ZW0yX3RpdGxlIiwibGluZUNvdW50IjoiMiIsIndvcmRDb3VudCI6IjUifSwidGFnIjoiJGl0ZW0yX3RpdGxlIn0=</bd:templateData>
          </p:ext>
        </p:extLst>
      </p:sp>
      <p:sp>
        <p:nvSpPr>
          <p:cNvPr id="10" name="AutoShape 10"/>
          <p:cNvSpPr/>
          <p:nvPr/>
        </p:nvSpPr>
        <p:spPr>
          <a:xfrm>
            <a:off x="8949764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9090545" y="2561882"/>
            <a:ext cx="2346946" cy="31482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通过“样式”功能一键应用标题、副标题等预设格式，保持全文格式统一，并支持自定义样式库以适应不同文档需求。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eyJfdGVtcGxhdGVEYXRhIjp7ImNvbnRlbnRUeXBlIjoiJGl0ZW0zX2MiLCJsaW5lQ291bnQiOiIxMCIsIndvcmRDb3VudCI6IjExIn0sInRhZyI6IiRpdGVtM19jIn0=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9090545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样式管理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eyJfdGVtcGxhdGVEYXRhIjp7ImNvbnRlbnRUeXBlIjoiJGl0ZW0zX3RpdGxlIiwibGluZUNvdW50IjoiMiIsIndvcmRDb3VudCI6IjUifSwidGFnIjoiJGl0ZW0zX3RpdGxlIn0=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Wh+aho+WIm+W7uuS4juagvOW8j+iuvue9rlxuIyMjIOaooeadv+mAieaLqVxuV29yZOaPkOS+m+S4sOWvjOeahOWGhee9ruaooeadv++8iOWmgueugOWOhuOAgeaKpeWRiuOAgeS/oeWHveetie+8ie+8jOeUqOaIt+WPr+mAmui/h+KAnOaWh+S7tuKAnT7igJzmlrDlu7rigJ3mkJzntKLogZTmnLrmqKHmnb/vvIzlv6vpgJ/nlJ/miJDkuJPkuJrmoLzlvI/mlofmoaPvvIzpgb/lhY3ku47pm7blvIDlp4vorr7orqHjgIJcbiMjIyDln7rnoYDmoLzlvI/osIPmlbRcbuWcqOKAnOW8gOWni+KAnemAiemhueWNoeS4reWPr+iuvue9ruWtl+S9k++8iOWmguWui+S9ky/lvq7ova/pm4Xpu5HvvInjgIHlrZflj7fvvIgxMnB0LzE0cHTvvInjgIHmrrXokL3lr7npvZDvvIjlt6blr7npvZAv5bGF5Lit77yJ5Y+K6KGM6Led77yIMS415YCNL+WbuuWumuWAvO+8ie+8jOehruS/neaWh+aho+aVtOa0geaYk+ivu+OAglxuIyMjIOagt+W8j+euoeeQhlxu6YCa6L+H4oCc5qC35byP4oCd5Yqf6IO95LiA6ZSu5bqU55So5qCH6aKY44CB5Ymv5qCH6aKY562J6aKE6K6+5qC85byP77yM5L+d5oyB5YWo5paH5qC85byP57uf5LiA77yM5bm25pSv5oyB6Ieq5a6a5LmJ5qC35byP5bqT5Lul6YCC5bqU5LiN5ZCM5paH5qGj6ZyA5rGC44CCIiwidHBsaWQiOiI3MiIsInRwbE5hbWUiOiJsaXN0M19pbWcxOCIsImVkaXRlZCI6ImZhbHNlIn0=</bd:templateData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51873" y="1812219"/>
            <a:ext cx="3287800" cy="3946292"/>
          </a:xfrm>
          <a:prstGeom prst="rect">
            <a:avLst/>
          </a:prstGeom>
          <a:noFill/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595787" y="1726745"/>
            <a:ext cx="3550411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灵活制表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98933" y="2298345"/>
            <a:ext cx="3344120" cy="150407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通过“插入”&gt;“表格”直接拖选行列数生成基础表格，或手动绘制复杂表格，结合“表格工具”调整边框、底纹及单元格合并/拆分。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eyJfdGVtcGxhdGVEYXRhIjp7ImNvbnRlbnRUeXBlIjoiJGl0ZW0xX2MiLCJsaW5lQ291bnQiOiI0Iiwid29yZENvdW50IjoiMTUifSwidGFnIjoiJGl0ZW0xX2MifQ==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065494" y="1713967"/>
            <a:ext cx="358363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图表数据联动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8211865" y="2285568"/>
            <a:ext cx="3290891" cy="1516848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插入Excel图表（如柱状图、饼图）后，双击可编辑数据源，支持实时更新图表内容，适用于动态数据展示。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eyJfdGVtcGxhdGVEYXRhIjp7ImNvbnRlbnRUeXBlIjoiJGl0ZW0yX2MiLCJsaW5lQ291bnQiOiI0Iiwid29yZENvdW50IjoiMTUifSwidGFnIjoiJGl0ZW0yX2MifQ==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595787" y="4317136"/>
            <a:ext cx="3550411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SmartArt图形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12714" y="4807470"/>
            <a:ext cx="3316558" cy="138430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用于流程、层次结构等可视化表达，通过“插入”&gt;“SmartArt”选择预设模板，直接替换文本即可生成专业图示。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eyJfdGVtcGxhdGVEYXRhIjp7ImNvbnRlbnRUeXBlIjoiJGl0ZW0zX2MiLCJsaW5lQ291bnQiOiI0Iiwid29yZENvdW50IjoiMTUifSwidGFnIjoiJGl0ZW0zX2MifQ==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972345" y="4317136"/>
            <a:ext cx="367678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多媒体整合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8165290" y="4823328"/>
            <a:ext cx="3290891" cy="1368448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可插入本地/在线图片、3D模型或屏幕截图，利用“图片工具”调整亮度、裁剪或添加艺术效果，增强文档表现力。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eyJfdGVtcGxhdGVEYXRhIjp7ImNvbnRlbnRUeXBlIjoiJGl0ZW00X2MiLCJsaW5lQ291bnQiOiI0Iiwid29yZENvdW50IjoiMTUifSwidGFnIjoiJGl0ZW00X2MifQ==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表格与图表插入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ihqOagvOS4juWbvuihqOaPkuWFpVxuIyMjIOeBtea0u+WItuihqFxu6YCa6L+H4oCc5o+S5YWl4oCdPuKAnOihqOagvOKAneebtOaOpeaLlumAieihjOWIl+aVsOeUn+aIkOWfuuehgOihqOagvO+8jOaIluaJi+WKqOe7mOWItuWkjeadguihqOagvO+8jOe7k+WQiOKAnOihqOagvOW3peWFt+KAneiwg+aVtOi+ueahhuOAgeW6lee6ueWPiuWNleWFg+agvOWQiOW5ti/mi4bliIbjgIJcbiMjIyDlm77ooajmlbDmja7ogZTliqhcbuaPkuWFpUV4Y2Vs5Zu+6KGo77yI5aaC5p+x54q25Zu+44CB6aW85Zu+77yJ5ZCO77yM5Y+M5Ye75Y+v57yW6L6R5pWw5o2u5rqQ77yM5pSv5oyB5a6e5pe25pu05paw5Zu+6KGo5YaF5a6577yM6YCC55So5LqO5Yqo5oCB5pWw5o2u5bGV56S644CCXG4jIyMgU21hcnRBcnTlm77lvaJcbueUqOS6jua1geeoi+OAgeWxguasoee7k+aehOetieWPr+inhuWMluihqOi+vu+8jOmAmui/h+KAnOaPkuWFpeKAnT7igJxTbWFydEFydOKAnemAieaLqemihOiuvuaooeadv++8jOebtOaOpeabv+aNouaWh+acrOWNs+WPr+eUn+aIkOS4k+S4muWbvuekuuOAglxuIyMjIOWkmuWqkuS9k+aVtOWQiFxu5Y+v5o+S5YWl5pys5ZywL+WcqOe6v+WbvueJh+OAgTNE5qih5Z6L5oiW5bGP5bmV5oiq5Zu+77yM5Yip55So4oCc5Zu+54mH5bel5YW34oCd6LCD5pW05Lqu5bqm44CB6KOB5Ymq5oiW5re75Yqg6Im65pyv5pWI5p6c77yM5aKe5by65paH5qGj6KGo546w5Yqb44CCIiwidHBsaWQiOiI3MiIsInRwbE5hbWUiOiJsaXN0NF9JbWdrbTI0MDMxMjAxIiwiZWRpdGVkIjoiZmFsc2UifQ==</bd:templateData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目录与引用功能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22876" r="22876"/>
          <a:stretch>
            <a:fillRect/>
          </a:stretch>
        </p:blipFill>
        <p:spPr>
          <a:xfrm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 l="26238" r="26238"/>
          <a:stretch>
            <a:fillRect/>
          </a:stretch>
        </p:blipFill>
        <p:spPr>
          <a:xfrm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5" name="AutoShape 5"/>
          <p:cNvSpPr/>
          <p:nvPr/>
        </p:nvSpPr>
        <p:spPr>
          <a:xfrm>
            <a:off x="5335151" y="1339414"/>
            <a:ext cx="6203645" cy="292757"/>
          </a:xfrm>
          <a:prstGeom prst="roundRect">
            <a:avLst>
              <a:gd name="adj" fmla="val 45454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自动目录生成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609373" y="1732534"/>
            <a:ext cx="4282862" cy="983867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对已应用标题样式的文档，通过“引用”&gt;“目录”插入自动目录，点击条目可跳转至对应章节，支持更新以同步内容变更。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eyJfdGVtcGxhdGVEYXRhIjp7ImNvbnRlbnRUeXBlIjoiJGl0ZW0xX2MiLCJsaW5lQ291bnQiOiIzIiwid29yZENvdW50IjoiMjIifSwidGFnIjoiJGl0ZW0xX2MifQ==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609373" y="3369312"/>
            <a:ext cx="4282862" cy="1010481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在长文档中引用图表、标题编号（如“详见第3章”），通过“引用”&gt;“交叉引用”设置动态链接，确保引用内容随原文修改自动更新。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eyJfdGVtcGxhdGVEYXRhIjp7ImNvbnRlbnRUeXBlIjoiJGl0ZW0yX2MiLCJsaW5lQ291bnQiOiIzIiwid29yZENvdW50IjoiMjIifSwidGFnIjoiJGl0ZW0yX2MifQ==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609373" y="5010231"/>
            <a:ext cx="4282862" cy="1156860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为专业文献添加注释，通过“引用”&gt;“插入脚注”在页面底部或文档末尾标注引用来源，支持自定义编号格式与位置。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eyJfdGVtcGxhdGVEYXRhIjp7ImNvbnRlbnRUeXBlIjoiJGl0ZW0zX2MiLCJsaW5lQ291bnQiOiIzIiwid29yZENvdW50IjoiMjIifSwidGFnIjoiJGl0ZW0zX2MifQ==</bd:templateData>
          </p:ext>
        </p:extLst>
      </p:sp>
      <p:sp>
        <p:nvSpPr>
          <p:cNvPr id="10" name="AutoShape 10"/>
          <p:cNvSpPr/>
          <p:nvPr/>
        </p:nvSpPr>
        <p:spPr>
          <a:xfrm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交叉引用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1" name="AutoShape 11"/>
          <p:cNvSpPr/>
          <p:nvPr/>
        </p:nvSpPr>
        <p:spPr>
          <a:xfrm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脚注与尾注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bruW9leS4juW8leeUqOWKn+iDvVxuIyMjIOiHquWKqOebruW9leeUn+aIkFxu5a+55bey5bqU55So5qCH6aKY5qC35byP55qE5paH5qGj77yM6YCa6L+H4oCc5byV55So4oCdPuKAnOebruW9leKAneaPkuWFpeiHquWKqOebruW9le+8jOeCueWHu+adoeebruWPr+i3s+i9rOiHs+WvueW6lOeroOiKgu+8jOaUr+aMgeabtOaWsOS7peWQjOatpeWGheWuueWPmOabtOOAglxuIyMjIOS6pOWPieW8leeUqFxu5Zyo6ZW/5paH5qGj5Lit5byV55So5Zu+6KGo44CB5qCH6aKY57yW5Y+377yI5aaC4oCc6K+m6KeB56ysM+eroOKAne+8ie+8jOmAmui/h+KAnOW8leeUqOKAnT7igJzkuqTlj4nlvJXnlKjigJ3orr7nva7liqjmgIHpk77mjqXvvIznoa7kv53lvJXnlKjlhoXlrrnpmo/ljp/mlofkv67mlLnoh6rliqjmm7TmlrDjgIJcbiMjIyDohJrms6jkuI7lsL7ms6hcbuS4uuS4k+S4muaWh+eMrua3u+WKoOazqOmHiu+8jOmAmui/h+KAnOW8leeUqOKAnT7igJzmj5LlhaXohJrms6jigJ3lnKjpobXpnaLlupXpg6jmiJbmlofmoaPmnKvlsL7moIfms6jlvJXnlKjmnaXmupDvvIzmlK/mjIHoh6rlrprkuYnnvJblj7fmoLzlvI/kuI7kvY3nva7jgIIiLCJ0cGxpZCI6IjcyIiwidHBsTmFtZSI6Imxpc3QzXzIwMjUwNzAzMTYiLCJlZGl0ZWQiOiJmYWxzZSJ9</bd:templateData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Excel数据处理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eyJtZCI6IiMjIEV4Y2Vs5pWw5o2u5aSE55CGIiwidHBsaWQiOiI3MiIsInRwbE5hbWUiOiJoMnRpdGxlXzcyYmx1ZUluazIzMTIyMDAxIiwiZWRpdGVkIjoiZmFsc2UifQ==</bd:templateDat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数据录入与整理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 t="7298" b="7298"/>
          <a:stretch>
            <a:fillRect/>
          </a:stretch>
        </p:blipFill>
        <p:spPr>
          <a:xfrm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规范数据输入格式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099978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统一日期、数字等数据的录入标准，避免因格式混乱导致后续统计错误，例如使用"YYYY-MM-DD"格式录入日期，数值型数据避免混入空格或文本符号。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eyJfdGVtcGxhdGVEYXRhIjp7ImNvbnRlbnRUeXBlIjoiJGl0ZW0xX2MiLCJsaW5lQ291bnQiOiI0Iiwid29yZENvdW50IjoiMTgifSwidGFnIjoiJGl0ZW0xX2MifQ==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文本型数字转换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099978" y="4470242"/>
            <a:ext cx="3431205" cy="1276624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采用选择性粘贴运算（复制空白单元格→选择性粘贴→加）强制转换文本数字为数值，配合分列功能处理带特殊符号的数值数据。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eyJfdGVtcGxhdGVEYXRhIjp7ImNvbnRlbnRUeXBlIjoiJGl0ZW0zX2MiLCJsaW5lQ291bnQiOiI0Iiwid29yZENvdW50IjoiMTgifSwidGFnIjoiJGl0ZW0zX2MifQ==</bd:templateData>
          </p:ext>
        </p:extLst>
      </p:sp>
      <p:sp>
        <p:nvSpPr>
          <p:cNvPr id="13" name="AutoShape 13"/>
          <p:cNvSpPr/>
          <p:nvPr/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批量处理合并单元格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7996869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通过取消合并后定位空值（Ctrl+G→空值），使用"=A2"公式配合Ctrl+Enter批量填充，再转换为值粘贴，解决合并单元格导致的数据分析障碍。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VsOaNruW9leWFpeS4juaVtOeQhlxuIyMjIOinhOiMg+aVsOaNrui+k+WFpeagvOW8j1xu57uf5LiA5pel5pyf44CB5pWw5a2X562J5pWw5o2u55qE5b2V5YWl5qCH5YeG77yM6YG/5YWN5Zug5qC85byP5re35Lmx5a+86Ie05ZCO57ut57uf6K6h6ZSZ6K+v77yM5L6L5aaC5L2/55SoXCJZWVlZLU1NLUREXCLmoLzlvI/lvZXlhaXml6XmnJ/vvIzmlbDlgLzlnovmlbDmja7pgb/lhY3mt7flhaXnqbrmoLzmiJbmlofmnKznrKblj7fjgIJcbiMjIyDmibnph4/lpITnkIblkIjlubbljZXlhYPmoLxcbumAmui/h+WPlua2iOWQiOW5tuWQjuWumuS9jeepuuWAvO+8iEN0cmwrR+KGkuepuuWAvO+8ie+8jOS9v+eUqFwiPUEyXCLlhazlvI/phY3lkIhDdHJsK0VudGVy5om56YeP5aGr5YWF77yM5YaN6L2s5o2i5Li65YC857KY6LS077yM6Kej5Yaz5ZCI5bm25Y2V5YWD5qC85a+86Ie055qE5pWw5o2u5YiG5p6Q6Zqc56KN44CCXG4jIyMg5paH5pys5Z6L5pWw5a2X6L2s5o2iXG7ph4fnlKjpgInmi6nmgKfnspjotLTov5DnrpfvvIjlpI3liLbnqbrnmb3ljZXlhYPmoLzihpLpgInmi6nmgKfnspjotLTihpLliqDvvInlvLrliLbovazmjaLmlofmnKzmlbDlrZfkuLrmlbDlgLzvvIzphY3lkIjliIbliJflip/og73lpITnkIbluKbnibnmrornrKblj7fnmoTmlbDlgLzmlbDmja7jgIIiLCJ0cGxpZCI6IjcyIiwidHBsTmFtZSI6Imxpc3QzXzIwMjUwNzAxMDIiLCJlZGl0ZWQiOiJmYWxzZSJ9</bd:templateData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630295" y="-1017757"/>
            <a:ext cx="9477377" cy="9477377"/>
          </a:xfrm>
          <a:prstGeom prst="ellipse">
            <a:avLst/>
          </a:prstGeom>
          <a:solidFill>
            <a:schemeClr val="accent2">
              <a:alpha val="1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881683" y="329421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7682406" y="1587331"/>
            <a:ext cx="4267200" cy="4267200"/>
          </a:xfrm>
          <a:prstGeom prst="ellipse">
            <a:avLst/>
          </a:prstGeom>
          <a:solidFill>
            <a:schemeClr val="accent2">
              <a:alpha val="2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7020359" y="3294211"/>
            <a:ext cx="800044" cy="862118"/>
          </a:xfrm>
          <a:prstGeom prst="rightArrow">
            <a:avLst/>
          </a:pr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1471170" y="1787279"/>
            <a:ext cx="4624830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例如VLOOKUP与IFERROR组合实现错误值屏蔽，SUMIFS多条件求和应对复杂统计场景。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eyJfdGVtcGxhdGVEYXRhIjp7ImNvbnRlbnRUeXBlIjoiJGl0ZW0xX2MiLCJsaW5lQ291bnQiOiIzIiwid29yZENvdW50IjoiMjIifSwidGFnIjoiJGl0ZW0xX2MifQ==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1471170" y="5162560"/>
            <a:ext cx="4624830" cy="10001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使用REGEXEXTRACT或TEXTSPLIT函数处理不规则文本（如=REGEXEXTRACT(A2,"d{4}")提取年份），解决地址、备注等字段的标准化问题。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eyJfdGVtcGxhdGVEYXRhIjp7ImNvbnRlbnRUeXBlIjoiJGl0ZW0zX2MiLCJsaW5lQ291bnQiOiIzIiwid29yZENvdW50IjoiMjIifSwidGFnIjoiJGl0ZW0zX2MifQ==</bd:templateData>
          </p:ext>
        </p:extLst>
      </p:sp>
      <p:sp>
        <p:nvSpPr>
          <p:cNvPr id="8" name="AutoShape 8"/>
          <p:cNvSpPr/>
          <p:nvPr/>
        </p:nvSpPr>
        <p:spPr>
          <a:xfrm>
            <a:off x="7993848" y="1898772"/>
            <a:ext cx="3644317" cy="3644317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8223571" y="2641548"/>
            <a:ext cx="3184870" cy="215876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1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掌握核心函数组合与动态数组公式，实现复杂数据逻辑的自动化处理，显著提升多维度数据计算效率。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eyJfdGVtcGxhdGVEYXRhIjp7ImNvbnRlbnRUeXBlIjoiJHN1bSIsImxpbmVDb3VudCI6IjYiLCJ3b3JkQ291bnQiOiIxNCJ9LCJ0YWciOiIkc3VtIn0=</bd:templateData>
          </p:ext>
        </p:extLst>
      </p:sp>
      <p:sp>
        <p:nvSpPr>
          <p:cNvPr id="10" name="AutoShape 10"/>
          <p:cNvSpPr/>
          <p:nvPr/>
        </p:nvSpPr>
        <p:spPr>
          <a:xfrm>
            <a:off x="497036" y="158733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Freeform 11"/>
          <p:cNvSpPr/>
          <p:nvPr/>
        </p:nvSpPr>
        <p:spPr>
          <a:xfrm>
            <a:off x="693146" y="1783441"/>
            <a:ext cx="461221" cy="46122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  <a:moveTo>
                  <a:pt x="99060" y="137160"/>
                </a:moveTo>
                <a:cubicBezTo>
                  <a:pt x="111681" y="137160"/>
                  <a:pt x="121920" y="126921"/>
                  <a:pt x="121920" y="114300"/>
                </a:cubicBezTo>
                <a:cubicBezTo>
                  <a:pt x="121920" y="101679"/>
                  <a:pt x="111681" y="91440"/>
                  <a:pt x="99060" y="91440"/>
                </a:cubicBezTo>
                <a:lnTo>
                  <a:pt x="99060" y="91440"/>
                </a:lnTo>
                <a:cubicBezTo>
                  <a:pt x="86439" y="91440"/>
                  <a:pt x="76200" y="101679"/>
                  <a:pt x="76200" y="114300"/>
                </a:cubicBezTo>
                <a:cubicBezTo>
                  <a:pt x="76200" y="126921"/>
                  <a:pt x="86439" y="137160"/>
                  <a:pt x="99060" y="137160"/>
                </a:cubicBezTo>
                <a:lnTo>
                  <a:pt x="99060" y="137160"/>
                </a:lnTo>
                <a:close/>
                <a:moveTo>
                  <a:pt x="205740" y="137160"/>
                </a:moveTo>
                <a:cubicBezTo>
                  <a:pt x="218361" y="137160"/>
                  <a:pt x="228600" y="126921"/>
                  <a:pt x="228600" y="114300"/>
                </a:cubicBezTo>
                <a:cubicBezTo>
                  <a:pt x="228600" y="101679"/>
                  <a:pt x="218361" y="91440"/>
                  <a:pt x="205740" y="91440"/>
                </a:cubicBezTo>
                <a:lnTo>
                  <a:pt x="205740" y="91440"/>
                </a:lnTo>
                <a:cubicBezTo>
                  <a:pt x="193119" y="91440"/>
                  <a:pt x="182880" y="101679"/>
                  <a:pt x="182880" y="114300"/>
                </a:cubicBezTo>
                <a:cubicBezTo>
                  <a:pt x="182880" y="126921"/>
                  <a:pt x="193119" y="137160"/>
                  <a:pt x="205740" y="137160"/>
                </a:cubicBezTo>
                <a:lnTo>
                  <a:pt x="205740" y="137160"/>
                </a:lnTo>
                <a:close/>
                <a:moveTo>
                  <a:pt x="238658" y="182880"/>
                </a:moveTo>
                <a:lnTo>
                  <a:pt x="66142" y="182880"/>
                </a:lnTo>
                <a:cubicBezTo>
                  <a:pt x="79038" y="218770"/>
                  <a:pt x="112776" y="243973"/>
                  <a:pt x="152400" y="243973"/>
                </a:cubicBezTo>
                <a:cubicBezTo>
                  <a:pt x="192024" y="243973"/>
                  <a:pt x="225762" y="218770"/>
                  <a:pt x="238458" y="183518"/>
                </a:cubicBezTo>
                <a:lnTo>
                  <a:pt x="238658" y="18288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Freeform 12"/>
          <p:cNvSpPr/>
          <p:nvPr/>
        </p:nvSpPr>
        <p:spPr>
          <a:xfrm>
            <a:off x="1122283" y="3534910"/>
            <a:ext cx="372041" cy="3720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68237" y="0"/>
                  <a:pt x="0" y="68237"/>
                  <a:pt x="0" y="152400"/>
                </a:cubicBezTo>
                <a:cubicBezTo>
                  <a:pt x="0" y="236563"/>
                  <a:pt x="68237" y="304800"/>
                  <a:pt x="152400" y="304800"/>
                </a:cubicBezTo>
                <a:cubicBezTo>
                  <a:pt x="236563" y="304800"/>
                  <a:pt x="304800" y="236563"/>
                  <a:pt x="304800" y="152400"/>
                </a:cubicBezTo>
                <a:cubicBezTo>
                  <a:pt x="304800" y="68237"/>
                  <a:pt x="236563" y="0"/>
                  <a:pt x="152400" y="0"/>
                </a:cubicBezTo>
                <a:close/>
                <a:moveTo>
                  <a:pt x="128778" y="222723"/>
                </a:moveTo>
                <a:lnTo>
                  <a:pt x="58655" y="152591"/>
                </a:lnTo>
                <a:lnTo>
                  <a:pt x="85592" y="125654"/>
                </a:lnTo>
                <a:lnTo>
                  <a:pt x="128768" y="168850"/>
                </a:lnTo>
                <a:lnTo>
                  <a:pt x="220370" y="77248"/>
                </a:lnTo>
                <a:lnTo>
                  <a:pt x="247307" y="104184"/>
                </a:lnTo>
                <a:lnTo>
                  <a:pt x="128778" y="22272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AutoShape 13"/>
          <p:cNvSpPr/>
          <p:nvPr/>
        </p:nvSpPr>
        <p:spPr>
          <a:xfrm>
            <a:off x="497036" y="500109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Freeform 14"/>
          <p:cNvSpPr/>
          <p:nvPr/>
        </p:nvSpPr>
        <p:spPr>
          <a:xfrm>
            <a:off x="708042" y="5212097"/>
            <a:ext cx="431428" cy="43142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2444" y="162220"/>
                </a:moveTo>
                <a:cubicBezTo>
                  <a:pt x="202444" y="162220"/>
                  <a:pt x="207007" y="100841"/>
                  <a:pt x="150752" y="93840"/>
                </a:cubicBezTo>
                <a:cubicBezTo>
                  <a:pt x="102537" y="88916"/>
                  <a:pt x="87868" y="133721"/>
                  <a:pt x="87868" y="133721"/>
                </a:cubicBezTo>
                <a:cubicBezTo>
                  <a:pt x="87868" y="133721"/>
                  <a:pt x="73352" y="119758"/>
                  <a:pt x="53654" y="131159"/>
                </a:cubicBezTo>
                <a:cubicBezTo>
                  <a:pt x="36024" y="142046"/>
                  <a:pt x="39148" y="161963"/>
                  <a:pt x="39148" y="161963"/>
                </a:cubicBezTo>
                <a:cubicBezTo>
                  <a:pt x="39148" y="161963"/>
                  <a:pt x="0" y="169574"/>
                  <a:pt x="0" y="209493"/>
                </a:cubicBezTo>
                <a:cubicBezTo>
                  <a:pt x="1076" y="250031"/>
                  <a:pt x="42262" y="249022"/>
                  <a:pt x="42262" y="249022"/>
                </a:cubicBezTo>
                <a:lnTo>
                  <a:pt x="196310" y="249431"/>
                </a:lnTo>
                <a:cubicBezTo>
                  <a:pt x="196310" y="249431"/>
                  <a:pt x="233182" y="249860"/>
                  <a:pt x="239897" y="211874"/>
                </a:cubicBezTo>
                <a:cubicBezTo>
                  <a:pt x="242497" y="170412"/>
                  <a:pt x="202444" y="162220"/>
                  <a:pt x="202444" y="162220"/>
                </a:cubicBezTo>
                <a:close/>
              </a:path>
              <a:path w="304800" h="304800">
                <a:moveTo>
                  <a:pt x="297694" y="124130"/>
                </a:moveTo>
                <a:cubicBezTo>
                  <a:pt x="297694" y="124130"/>
                  <a:pt x="302257" y="62751"/>
                  <a:pt x="246012" y="55740"/>
                </a:cubicBezTo>
                <a:cubicBezTo>
                  <a:pt x="197796" y="50816"/>
                  <a:pt x="182537" y="96212"/>
                  <a:pt x="182537" y="96212"/>
                </a:cubicBezTo>
                <a:cubicBezTo>
                  <a:pt x="182537" y="96212"/>
                  <a:pt x="210626" y="112509"/>
                  <a:pt x="211817" y="156562"/>
                </a:cubicBezTo>
                <a:cubicBezTo>
                  <a:pt x="229676" y="161925"/>
                  <a:pt x="248707" y="176660"/>
                  <a:pt x="249307" y="211188"/>
                </a:cubicBezTo>
                <a:lnTo>
                  <a:pt x="291560" y="211341"/>
                </a:lnTo>
                <a:cubicBezTo>
                  <a:pt x="291560" y="211341"/>
                  <a:pt x="328432" y="211769"/>
                  <a:pt x="335147" y="173784"/>
                </a:cubicBezTo>
                <a:cubicBezTo>
                  <a:pt x="337747" y="132302"/>
                  <a:pt x="297694" y="124130"/>
                  <a:pt x="297694" y="12413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1471170" y="1404968"/>
            <a:ext cx="3533775" cy="4095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基础函数嵌套应用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eyJfdGVtcGxhdGVEYXRhIjp7ImNvbnRlbnRUeXBlIjoiJGl0ZW0xX3RpdGxlIiwibGluZUNvdW50IjoiMSIsIndvcmRDb3VudCI6IjExIn0sInRhZyI6IiRpdGVtMV90aXRsZSJ9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1850961" y="3391770"/>
            <a:ext cx="4622850" cy="99722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通过建立多条件筛选模型（如=FILTER(数据区,(条件1)(条件2))），实现跨表数据实时联动更新。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eyJfdGVtcGxhdGVEYXRhIjp7ImNvbnRlbnRUeXBlIjoiJGl0ZW0yX2MiLCJsaW5lQ291bnQiOiIzIiwid29yZENvdW50IjoiMjIifSwidGFnIjoiJGl0ZW0yX2MifQ==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1850961" y="3052871"/>
            <a:ext cx="3533775" cy="4095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FILTER函数动态筛选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eyJfdGVtcGxhdGVEYXRhIjp7ImNvbnRlbnRUeXBlIjoiJGl0ZW0yX3RpdGxlIiwibGluZUNvdW50IjoiMSIsIndvcmRDb3VudCI6IjExIn0sInRhZyI6IiRpdGVtMl90aXRsZSJ9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1471170" y="4752985"/>
            <a:ext cx="3533775" cy="4095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正则表达式清洗数据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eyJfdGVtcGxhdGVEYXRhIjp7ImNvbnRlbnRUeXBlIjoiJGl0ZW0zX3RpdGxlIiwibGluZUNvdW50IjoiMSIsIndvcmRDb3VudCI6IjExIn0sInRhZyI6IiRpdGVtM190aXRsZSJ9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公式与函数应用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FrOW8j+S4juWHveaVsOW6lOeUqFxuIyMjIOWfuuehgOWHveaVsOW1jOWll+W6lOeUqFxu5L6L5aaCVkxPT0tVUOS4jklGRVJST1Lnu4TlkIjlrp7njrDplJnor6/lgLzlsY/olL3vvIxTVU1JRlPlpJrmnaHku7bmsYLlkozlupTlr7nlpI3mnYLnu5/orqHlnLrmma/jgIJcbiMjIyBGSUxURVLlh73mlbDliqjmgIHnrZvpgIlcbumAmui/h+W7uueri+WkmuadoeS7tuetm+mAieaooeWei++8iOWmgj1GSUxURVIo5pWw5o2u5Yy6LCjmnaHku7YxKSjmnaHku7YyKSnvvInvvIzlrp7njrDot6jooajmlbDmja7lrp7ml7bogZTliqjmm7TmlrDjgIJcbiMjIyDmraPliJnooajovr7lvI/muIXmtJfmlbDmja5cbuS9v+eUqFJFR0VYRVhUUkFDVOaIllRFWFRTUExJVOWHveaVsOWkhOeQhuS4jeinhOWImeaWh+acrO+8iOWmgj1SRUdFWEVYVFJBQ1QoQTIsXCJcXGR7NH1cIinmj5Dlj5blubTku73vvInvvIzop6PlhrPlnLDlnYDjgIHlpIfms6jnrYnlrZfmrrXnmoTmoIflh4bljJbpl67popjjgIIiLCJ0cGxpZCI6IjcyIiwidHBsTmFtZSI6Imxpc3RTdW0zXzIzMTEzMDQiLCJlZGl0ZWQiOiJmYWxzZSJ9</bd:templateData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938434" y="1792224"/>
          <a:ext cx="4621118" cy="4177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175525" y="1669708"/>
            <a:ext cx="5229225" cy="45339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lnSpc>
                <a:spcPct val="150000"/>
              </a:lnSpc>
              <a:buFont typeface="Arial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柱状图占据主导地位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: 数据显示柱状图以35%的占比成为最常用的数据分析图表，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突出其直观比较优势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，特别适用于分类数据对比和时间趋势展示。</a:t>
            </a:r>
          </a:p>
          <a:p>
            <a:pPr marL="228600" lvl="1" indent="-228600">
              <a:lnSpc>
                <a:spcPct val="150000"/>
              </a:lnSpc>
              <a:buFont typeface="Arial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趋势与占比分析并重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: 折线图(25%)和饼状图(20%)分列二三位，反映用户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同时关注数据变化趋势和构成比例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的核心需求。</a:t>
            </a:r>
          </a:p>
          <a:p>
            <a:pPr marL="228600" lvl="1" indent="-228600">
              <a:lnSpc>
                <a:spcPct val="150000"/>
              </a:lnSpc>
              <a:buFont typeface="Arial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基础图表覆盖主要需求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: 前三种图表合计占比达80%，表明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80%的数据分析场景可通过基础图表解决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，条形图/散点图等满足剩余细分需求。</a:t>
            </a:r>
          </a:p>
        </p:txBody>
        <p:extLst>
          <p:ext uri="http://schemas.baidu.com/office/drawing/2023/templateData">
            <bd:templateData xmlns:bd="http://schemas.baidu.com/office/drawing/2023/templateData" xmlns:c="http://schemas.openxmlformats.org/drawingml/2006/chart" xmlns="">eyJfdGVtcGxhdGVEYXRhIjp7ImNvbnRlbnRUeXBlIjoiJHRleHQiLCJsaW5lQ291bnQiOiIxMiIsIndvcmRDb3VudCI6IjI2In0sInRhZyI6IiR0ZXh0In0=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图表与数据可视化</a:t>
            </a:r>
          </a:p>
        </p:txBody>
        <p:extLst>
          <p:ext uri="http://schemas.baidu.com/office/drawing/2023/templateData">
            <bd:templateData xmlns:bd="http://schemas.baidu.com/office/drawing/2023/templateData" xmlns:c="http://schemas.openxmlformats.org/drawingml/2006/chart" xmlns="">eyJfdGVtcGxhdGVEYXRhIjp7ImNvbnRlbnRUeXBlIjoiJHRpdGxlIiwibGluZUNvdW50IjoiMSIsIndvcmRDb3VudCI6IjI3In0sInRhZyI6IiR0aXRsZSJ9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:c="http://schemas.openxmlformats.org/drawingml/2006/chart" xmlns="">eyJtZCI6ImBgYGNoYXJ0LXYxXG57XCJjb2x1bW5zXCI6IFtcIuWbvuihqOexu+Wei1wiLCBcIumAgueUqOWcuuaZr+WNoOavlCglKVwiXSwgXCJkYXRhXCI6IFtbXCLmn7Hnirblm75cIiwgMzUuMF0sIFtcIuaKmOe6v+WbvlwiLCAyNS4wXSwgW1wi6aW854q25Zu+XCIsIDIwLjBdLCBbXCLmnaHlvaLlm75cIiwgMTAuMF0sIFtcIuaVo+eCueWbvlwiLCA3LjBdLCBbXCLlnLDlm75cIiwgMy4wXV0sIFwidHlwZVwiOiBcImJhclwifVxuYGBgLSAqKuafseeKtuWbvuWNoOaNruS4u+WvvOWcsOS9jSoqOiDmlbDmja7mmL7npLrmn7Hnirblm77ku6UzNSXnmoTljaDmr5TmiJDkuLrmnIDluLjnlKjnmoTmlbDmja7liIbmnpDlm77ooajvvIwqKueqgeWHuuWFtuebtOinguavlOi+g+S8mOWKvyoq77yM54m55Yir6YCC55So5LqO5YiG57G75pWw5o2u5a+55q+U5ZKM5pe26Ze06LaL5Yq/5bGV56S644CCXG4tICoq6LaL5Yq/5LiO5Y2g5q+U5YiG5p6Q5bm26YeNKio6IOaKmOe6v+WbvigyNSUp5ZKM6aW854q25Zu+KDIwJSnliIbliJfkuozkuInkvY3vvIzlj43mmKDnlKjmiLcqKuWQjOaXtuWFs+azqOaVsOaNruWPmOWMlui2i+WKv+WSjOaehOaIkOavlOS+iyoq55qE5qC45b+D6ZyA5rGC44CCXG4tICoq5Z+656GA5Zu+6KGo6KaG55uW5Li76KaB6ZyA5rGCKio6IOWJjeS4ieenjeWbvuihqOWQiOiuoeWNoOavlOi+vjgwJe+8jOihqOaYjioqODAl55qE5pWw5o2u5YiG5p6Q5Zy65pmv5Y+v6YCa6L+H5Z+656GA5Zu+6KGo6Kej5YazKirvvIzmnaHlvaLlm74v5pWj54K55Zu+562J5ruh6Laz5Ymp5L2Z57uG5YiG6ZyA5rGC44CCIiwidHBsaWQiOiI3MiIsInRwbE5hbWUiOiJ0aXRsZUdyYXBoXzIiLCJlZGl0ZWQiOiJmYWxzZSJ9</bd:templateData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PowerPoint演示制作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eyJtZCI6IiMjIFBvd2VyUG9pbnTmvJTnpLrliLbkvZwiLCJ0cGxpZCI6IjcyIiwidHBsTmFtZSI6ImgydGl0bGVfNzJibHVlSW5rMjMxMjIwMDEiLCJlZGl0ZWQiOiJmYWxzZSJ9</bd:templateData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3731" y="1707455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根据内容类型选择合适版式，标题+内容型适合核心观点展示，左右分割型便于图文对照，上下布局型适合目录页，环绕型能增加页面活泼感。商务汇报建议使用简洁对称布局，教育培训可采用创意环绕排版。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eyJfdGVtcGxhdGVEYXRhIjp7ImNvbnRlbnRUeXBlIjoiJGl0ZW0xX2MiLCJsaW5lQ291bnQiOiIzIiwid29yZENvdW50IjoiNDAifSwidGFnIjoiJGl0ZW0xX2MifQ==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31596" r="31596"/>
          <a:stretch>
            <a:fillRect/>
          </a:stretch>
        </p:blipFill>
        <p:spPr>
          <a:xfrm>
            <a:off x="8969010" y="1328023"/>
            <a:ext cx="2420771" cy="48889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幻灯片设计与布局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503731" y="1268717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版式选择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eyJfdGVtcGxhdGVEYXRhIjp7ImNvbnRlbnRUeXBlIjoiJGl0ZW0xX3RpdGxlIiwibGluZUNvdW50IjoiMSIsIndvcmRDb3VudCI6IjI2In0sInRhZyI6IiRpdGVtMV90aXRsZSJ9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497335" y="3427906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通过字号对比（主标题&gt;副标题&gt;正文）、颜色对比（强调色不超过3种）、留白处理（内容区四周保留呼吸空间）建立清晰的信息层级。重要数据可用色块突出，次要信息适当缩小字号。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eyJfdGVtcGxhdGVEYXRhIjp7ImNvbnRlbnRUeXBlIjoiJGl0ZW0yX2MiLCJsaW5lQ291bnQiOiIzIiwid29yZENvdW50IjoiNDAifSwidGFnIjoiJGl0ZW0yX2MifQ==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97335" y="2989168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视觉层次构建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eyJfdGVtcGxhdGVEYXRhIjp7ImNvbnRlbnRUeXBlIjoiJGl0ZW0yX3RpdGxlIiwibGluZUNvdW50IjoiMSIsIndvcmRDb3VudCI6IjI2In0sInRhZyI6IiRpdGVtMl90aXRsZSJ9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90939" y="5118361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高质量摄影图优先选择留白较多的中性风格，避免百度搜图带来的低像素问题。图片与文字采用"对角呼应"或"黄金分割"布局，确保视觉平衡。产品介绍页推荐左文右图，数据页采用上图表下结论结构。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eyJfdGVtcGxhdGVEYXRhIjp7ImNvbnRlbnRUeXBlIjoiJGl0ZW0zX2MiLCJsaW5lQ291bnQiOiIzIiwid29yZENvdW50IjoiNDAifSwidGFnIjoiJGl0ZW0zX2MifQ==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90939" y="4679623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图文配合原则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eyJfdGVtcGxhdGVEYXRhIjp7ImNvbnRlbnRUeXBlIjoiJGl0ZW0zX3RpdGxlIiwibGluZUNvdW50IjoiMSIsIndvcmRDb3VudCI6IjI2In0sInRhZyI6IiRpdGVtM190aXRsZSJ9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5u+eBr+eJh+iuvuiuoeS4juW4g+WxgFxuIyMjIOeJiOW8j+mAieaLqVxu5qC55o2u5YaF5a6557G75Z6L6YCJ5oup5ZCI6YCC54mI5byP77yM5qCH6aKYK+WGheWuueWei+mAguWQiOaguOW/g+ingueCueWxleekuu+8jOW3puWPs+WIhuWJsuWei+S+v+S6juWbvuaWh+WvueeFp++8jOS4iuS4i+W4g+WxgOWei+mAguWQiOebruW9lemhte+8jOeOr+e7leWei+iDveWinuWKoOmhtemdoua0u+azvOaEn+OAguWVhuWKoeaxh+aKpeW7uuiuruS9v+eUqOeugOa0geWvueensOW4g+WxgO+8jOaVmeiCsuWfueiureWPr+mHh+eUqOWIm+aEj+eOr+e7leaOkueJiOOAglxuIyMjIOinhuinieWxguasoeaehOW7ulxu6YCa6L+H5a2X5Y+35a+55q+U77yI5Li75qCH6aKYPuWJr+agh+mimD7mraPmlofvvInjgIHpopzoibLlr7nmr5TvvIjlvLrosIPoibLkuI3otoXov4cz56eN77yJ44CB55WZ55m95aSE55CG77yI5YaF5a655Yy65Zub5ZGo5L+d55WZ5ZG85ZC456m66Ze077yJ5bu656uL5riF5pmw55qE5L+h5oGv5bGC57qn44CC6YeN6KaB5pWw5o2u5Y+v55So6Imy5Z2X56qB5Ye677yM5qyh6KaB5L+h5oGv6YCC5b2T57yp5bCP5a2X5Y+344CCXG4jIyMg5Zu+5paH6YWN5ZCI5Y6f5YiZXG7pq5jotKjph4/mkYTlvbHlm77kvJjlhYjpgInmi6nnlZnnmb3ovoPlpJrnmoTkuK3mgKfpo47moLzvvIzpgb/lhY3nmb7luqbmkJzlm77luKbmnaXnmoTkvY7lg4/ntKDpl67popjjgILlm77niYfkuI7mloflrZfph4fnlKhcIuWvueinkuWRvOW6lFwi5oiWXCLpu4Tph5HliIblibJcIuW4g+WxgO+8jOehruS/neinhuinieW5s+ihoeOAguS6p+WTgeS7i+e7jemhteaOqOiNkOW3puaWh+WPs+Wbvu+8jOaVsOaNrumhtemHh+eUqOS4iuWbvuihqOS4i+e7k+iuuue7k+aehOOAgiIsInRwbGlkIjoiNzIiLCJ0cGxOYW1lIjoibGlzdDNfaW1nNCIsImVkaXRlZCI6ImZhbHNlIn0=</bd:templateData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动画效果设置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297192" y="1308287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适度使用原则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eyJfdGVtcGxhdGVEYXRhIjp7ImNvbnRlbnRUeXBlIjoiJGl0ZW0xX3RpdGxlIiwibGluZUNvdW50IjoiMSIsIndvcmRDb3VudCI6IjE1In0sInRhZyI6IiRpdGVtMV90aXRsZSJ9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1297192" y="1833343"/>
            <a:ext cx="9803500" cy="708938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避免过度炫技，转场动画统一选择"平滑淡出"或"推进"，内容动画限制在"浮入""擦除"等基础效果。每页动画总时长控制在3秒内，连续动画采用"与上一动画同时"设置保持流畅性。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eyJfdGVtcGxhdGVEYXRhIjp7ImNvbnRlbnRUeXBlIjoiJGl0ZW0xX2MiLCJsaW5lQ291bnQiOiIyIiwid29yZENvdW50IjoiNTUifSwidGFnIjoiJGl0ZW0xX2MifQ==</bd:templateData>
          </p:ext>
        </p:extLst>
      </p:sp>
      <p:sp>
        <p:nvSpPr>
          <p:cNvPr id="5" name="AutoShape 5"/>
          <p:cNvSpPr/>
          <p:nvPr/>
        </p:nvSpPr>
        <p:spPr>
          <a:xfrm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cxnSp>
        <p:nvCxnSpPr>
          <p:cNvPr id="8" name="Connector 8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  <p:sp>
        <p:nvSpPr>
          <p:cNvPr id="9" name="AutoShape 9"/>
          <p:cNvSpPr/>
          <p:nvPr/>
        </p:nvSpPr>
        <p:spPr>
          <a:xfrm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297192" y="2503866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逻辑引导设计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eyJfdGVtcGxhdGVEYXRhIjp7ImNvbnRlbnRUeXBlIjoiJGl0ZW0yX3RpdGxlIiwibGluZUNvdW50IjoiMSIsIndvcmRDb3VudCI6IjE1In0sInRhZyI6IiRpdGVtMl90aXRsZSJ9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1297192" y="3028921"/>
            <a:ext cx="9953022" cy="708938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通过动画顺序引导观众视线，如先图表框架后数据曲线，先问题文本后解决方案。流程图采用"阶梯式呈现"，复杂架构图使用"缩放定位"逐层展开。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eyJfdGVtcGxhdGVEYXRhIjp7ImNvbnRlbnRUeXBlIjoiJGl0ZW0yX2MiLCJsaW5lQ291bnQiOiIyIiwid29yZENvdW50IjoiNTUifSwidGFnIjoiJGl0ZW0yX2MifQ==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1297192" y="3735521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重点强化技巧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eyJfdGVtcGxhdGVEYXRhIjp7ImNvbnRlbnRUeXBlIjoiJGl0ZW0zX3RpdGxlIiwibGluZUNvdW50IjoiMSIsIndvcmRDb3VudCI6IjE1In0sInRhZyI6IiRpdGVtM190aXRsZSJ9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1297192" y="4260576"/>
            <a:ext cx="9953022" cy="708938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关键数据采用"脉冲"强调动画，对比内容使用"颜色渐变"切换，流程节点配合"放大缩小"效果。禁止使用弹跳、螺旋等娱乐化动画。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eyJfdGVtcGxhdGVEYXRhIjp7ImNvbnRlbnRUeXBlIjoiJGl0ZW0zX2MiLCJsaW5lQ291bnQiOiIyIiwid29yZENvdW50IjoiNTUifSwidGFnIjoiJGl0ZW0zX2MifQ==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297192" y="4980154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节奏控制方法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eyJfdGVtcGxhdGVEYXRhIjp7ImNvbnRlbnRUeXBlIjoiJGl0ZW00X3RpdGxlIiwibGluZUNvdW50IjoiMSIsIndvcmRDb3VudCI6IjE1In0sInRhZyI6IiRpdGVtNF90aXRsZSJ9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1297192" y="5505210"/>
            <a:ext cx="9893212" cy="708938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文字段落设置"按字母延迟"显现，图表动画采用"系列按类别"播放，确保与演讲语速同步。技术类演示推荐0.5秒快速动画，培训类可适当延长至1秒。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eyJfdGVtcGxhdGVEYXRhIjp7ImNvbnRlbnRUeXBlIjoiJGl0ZW00X2MiLCJsaW5lQ291bnQiOiIyIiwid29yZENvdW50IjoiNTUifSwidGFnIjoiJGl0ZW00X2MifQ==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KqOeUu+aViOaenOiuvue9rlxuIyMjIOmAguW6puS9v+eUqOWOn+WImVxu6YG/5YWN6L+H5bqm54Kr5oqA77yM6L2s5Zy65Yqo55S757uf5LiA6YCJ5oupXCLlubPmu5Hmt6Hlh7pcIuaIllwi5o6o6L+bXCLvvIzlhoXlrrnliqjnlLvpmZDliLblnKhcIua1ruWFpVwiXCLmk6bpmaRcIuetieWfuuehgOaViOaenOOAguavj+mhteWKqOeUu+aAu+aXtumVv+aOp+WItuWcqDPnp5LlhoXvvIzov57nu63liqjnlLvph4fnlKhcIuS4juS4iuS4gOWKqOeUu+WQjOaXtlwi6K6+572u5L+d5oyB5rWB55WF5oCn44CCXG4jIyMg6YC76L6R5byV5a+86K6+6K6hXG7pgJrov4fliqjnlLvpobrluo/lvJXlr7zop4LkvJfop4bnur/vvIzlpoLlhYjlm77ooajmoYbmnrblkI7mlbDmja7mm7Lnur/vvIzlhYjpl67popjmlofmnKzlkI7op6PlhrPmlrnmoYjjgILmtYHnqIvlm77ph4fnlKhcIumYtuair+W8j+WRiOeOsFwi77yM5aSN5p2C5p625p6E5Zu+5L2/55SoXCLnvKnmlL7lrprkvY1cIumAkOWxguWxleW8gOOAglxuIyMjIOmHjeeCueW8uuWMluaKgOW3p1xu5YWz6ZSu5pWw5o2u6YeH55SoXCLohInlhrJcIuW8uuiwg+WKqOeUu++8jOWvueavlOWGheWuueS9v+eUqFwi6aKc6Imy5riQ5Y+YXCLliIfmjaLvvIzmtYHnqIvoioLngrnphY3lkIhcIuaUvuWkp+e8qeWwj1wi5pWI5p6c44CC56aB5q2i5L2/55So5by56Lez44CB6J665peL562J5aix5LmQ5YyW5Yqo55S744CCXG4jIyMg6IqC5aWP5o6n5Yi25pa55rOVXG7mloflrZfmrrXokL3orr7nva5cIuaMieWtl+avjeW7tui/n1wi5pi+546w77yM5Zu+6KGo5Yqo55S76YeH55SoXCLns7vliJfmjInnsbvliKtcIuaSreaUvu+8jOehruS/neS4jua8lOiusuivremAn+WQjOatpeOAguaKgOacr+exu+a8lOekuuaOqOiNkDAuNeenkuW/q+mAn+WKqOeUu++8jOWfueiureexu+WPr+mAguW9k+W7tumVv+iHszHnp5LjgIIiLCJ0cGxpZCI6IjcyIiwidHBsTmFtZSI6Imxpc3Q0X2xvbmdUaXRsZTIiLCJlZGl0ZWQiOiJmYWxzZSJ9</bd:templateData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742971" y="2306715"/>
            <a:ext cx="3314231" cy="64799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预演准备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8059848" y="1716027"/>
            <a:ext cx="3794740" cy="19681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熟练运用快捷键（B键黑屏、W键白屏、数字+Enter跳转），激光笔标注后及时关闭避免干扰。复杂流程图可用Ctrl+鼠标滚轮局部放大讲解。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eyJfdGVtcGxhdGVEYXRhIjp7ImNvbnRlbnRUeXBlIjoiJGl0ZW0yX2MiLCJsaW5lQ291bnQiOiI2Iiwid29yZENvdW50IjoiMTkifSwidGFnIjoiJGl0ZW0yX2MifQ==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059848" y="1097369"/>
            <a:ext cx="3314231" cy="62295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交互控制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8059848" y="4019931"/>
            <a:ext cx="3314231" cy="54783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8059848" y="4565142"/>
            <a:ext cx="3794740" cy="1995832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备用方案包括导出PDF版本、准备关键页打印稿、云端同步访问链接。遇到设备故障可临时切换为"大纲视图"继续讲解，视频无法播放时转为口述补充。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eyJfdGVtcGxhdGVEYXRhIjp7ImNvbnRlbnRUeXBlIjoiJGl0ZW0zX2MiLCJsaW5lQ291bnQiOiI2Iiwid29yZENvdW50IjoiMTkifSwidGFnIjoiJGl0ZW0zX2MifQ==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01071" y="2954711"/>
            <a:ext cx="3656131" cy="211596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使用"演讲者视图"预先核对备注与幻灯片对应关系，设置"排练计时"掌握各环节时间分配。重要演示前在不同设备测试显示效果，确保字体嵌入和视频链接正常。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eyJfdGVtcGxhdGVEYXRhIjp7ImNvbnRlbnRUeXBlIjoiJGl0ZW0xX2MiLCJsaW5lQ291bnQiOiI3Iiwid29yZENvdW50IjoiMTgifSwidGFnIjoiJGl0ZW0xX2MifQ==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演示文稿放映技巧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8lOekuuaWh+eov+aUvuaYoOaKgOW3p1xuIyMjIOmihOa8lOWHhuWkh1xu5L2/55SoXCLmvJTorrLogIXop4blm75cIumihOWFiOaguOWvueWkh+azqOS4juW5u+eBr+eJh+WvueW6lOWFs+ezu++8jOiuvue9rlwi5o6S57uD6K6h5pe2XCLmjozmj6HlkITnjq/oioLml7bpl7TliIbphY3jgILph43opoHmvJTnpLrliY3lnKjkuI3lkIzorr7lpIfmtYvor5XmmL7npLrmlYjmnpzvvIznoa7kv53lrZfkvZPltYzlhaXlkozop4bpopHpk77mjqXmraPluLjjgIJcbiMjIyDkuqTkupLmjqfliLZcbueGn+e7g+i/kOeUqOW/q+aNt+mUru+8iELplK7pu5HlsY/jgIFX6ZSu55m95bGP44CB5pWw5a2XK0VudGVy6Lez6L2s77yJ77yM5r+A5YWJ56yU5qCH5rOo5ZCO5Y+K5pe25YWz6Zet6YG/5YWN5bmy5omw44CC5aSN5p2C5rWB56iL5Zu+5Y+v55SoQ3RybCvpvKDmoIfmu5rova7lsYDpg6jmlL7lpKforrLop6PjgIJcbiMjIyDlupTmgKXlpITnkIZcbuWkh+eUqOaWueahiOWMheaLrOWvvOWHulBERueJiOacrOOAgeWHhuWkh+WFs+mUrumhteaJk+WNsOeov+OAgeS6keerr+WQjOatpeiuv+mXrumTvuaOpeOAgumBh+WIsOiuvuWkh+aVhemanOWPr+S4tOaXtuWIh+aNouS4ulwi5aSn57qy6KeG5Zu+XCLnu6fnu63orrLop6PvvIzop4bpopHml6Dms5Xmkq3mlL7ml7bovazkuLrlj6Pov7DooaXlhYXjgIIiLCJ0cGxpZCI6IjcyIiwidHBsTmFtZSI6Imxpc3QzX0ltZzE2IiwiZWRpdGVkIjoiZmFsc2UifQ==</bd:templateData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Office协同办公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eyJtZCI6IiMjIE9mZmljZeWNj+WQjOWKnuWFrCIsInRwbGlkIjoiNzIiLCJ0cGxOYW1lIjoiaDJ0aXRsZV83MmJsdWVJbmsyMzEyMjAwMSIsImVkaXRlZCI6ImZhbHNlIn0=</bd:templateData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 t="-186" b="-18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OneDrive云存储应用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614667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831204" y="4300661"/>
            <a:ext cx="3039989" cy="16563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OneDrive允许用户将文件存储在云端，并自动同步到所有登录相同账户的设备（如电脑、平板、手机），确保随时随地访问最新版本的文件。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eyJfdGVtcGxhdGVEYXRhIjp7ImNvbnRlbnRUeXBlIjoiJGl0ZW0xX2MiLCJsaW5lQ291bnQiOiI1Iiwid29yZENvdW50IjoiMTMifSwidGFnIjoiJGl0ZW0xX2MifQ==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31204" y="3584541"/>
            <a:ext cx="3039989" cy="61244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跨设备同步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6" name="AutoShape 6"/>
          <p:cNvSpPr/>
          <p:nvPr/>
        </p:nvSpPr>
        <p:spPr>
          <a:xfrm>
            <a:off x="4359469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576006" y="4300661"/>
            <a:ext cx="3039989" cy="16563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通过OneDrive存储文件可避免本地设备损坏或丢失导致的数据风险，文件默认加密且支持回收站恢复功能，提供双重数据保护。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eyJfdGVtcGxhdGVEYXRhIjp7ImNvbnRlbnRUeXBlIjoiJGl0ZW0yX2MiLCJsaW5lQ291bnQiOiI1Iiwid29yZENvdW50IjoiMTMifSwidGFnIjoiJGl0ZW0yX2MifQ==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576006" y="3584541"/>
            <a:ext cx="3039989" cy="61244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安全备份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9" name="AutoShape 9"/>
          <p:cNvSpPr/>
          <p:nvPr/>
        </p:nvSpPr>
        <p:spPr>
          <a:xfrm>
            <a:off x="8104272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7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8320808" y="4300661"/>
            <a:ext cx="3039989" cy="16563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右键点击文件即可生成共享链接，可设置查看/编辑权限，支持密码保护和过期时间设置，适用于团队协作或外部客户文件传递。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eyJfdGVtcGxhdGVEYXRhIjp7ImNvbnRlbnRUeXBlIjoiJGl0ZW0zX2MiLCJsaW5lQ291bnQiOiI1Iiwid29yZENvdW50IjoiMTMifSwidGFnIjoiJGl0ZW0zX2MifQ==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8320808" y="3584541"/>
            <a:ext cx="3039989" cy="61244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灵活共享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34133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l="14000" r="14000"/>
          <a:stretch>
            <a:fillRect/>
          </a:stretch>
        </p:blipFill>
        <p:spPr>
          <a:xfrm>
            <a:off x="5123204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2275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uZURyaXZl5LqR5a2Y5YKo5bqU55SoXG4jIyMg6Leo6K6+5aSH5ZCM5q2lXG5PbmVEcml2ZeWFgeiuuOeUqOaIt+WwhuaWh+S7tuWtmOWCqOWcqOS6keerr++8jOW5tuiHquWKqOWQjOatpeWIsOaJgOacieeZu+W9leebuOWQjOi0puaIt+eahOiuvuWkh++8iOWmgueUteiEkeOAgeW5s+adv+OAgeaJi+acuu+8ie+8jOehruS/nemaj+aXtumaj+WcsOiuv+mXruacgOaWsOeJiOacrOeahOaWh+S7tuOAglxuIyMjIOWuieWFqOWkh+S7vVxu6YCa6L+HT25lRHJpdmXlrZjlgqjmlofku7blj6/pgb/lhY3mnKzlnLDorr7lpIfmjZ/lnY/miJbkuKLlpLHlr7zoh7TnmoTmlbDmja7po47pmanvvIzmlofku7bpu5jorqTliqDlr4bkuJTmlK/mjIHlm57mlLbnq5nmgaLlpI3lip/og73vvIzmj5Dkvpvlj4zph43mlbDmja7kv53miqTjgIJcbiMjIyDngbXmtLvlhbHkuqtcbuWPs+mUrueCueWHu+aWh+S7tuWNs+WPr+eUn+aIkOWFseS6q+mTvuaOpe+8jOWPr+iuvue9ruafpeeciy/nvJbovpHmnYPpmZDvvIzmlK/mjIHlr4bnoIHkv53miqTlkozov4fmnJ/ml7bpl7Torr7nva7vvIzpgILnlKjkuo7lm6LpmJ/ljY/kvZzmiJblpJbpg6jlrqLmiLfmlofku7bkvKDpgJLjgIIiLCJ0cGxpZCI6IjcyIiwidHBsTmFtZSI6Imxpc3QzX0ltZzE0IiwiZWRpdGVkIjoiZmFsc2UifQ==</bd:templateData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1125" y="2110894"/>
            <a:ext cx="3696560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在Word/Excel/PPT中通过OneDrive或SharePoint保存文件后，多人可同时编辑同一文档，光标位置和修改内容会实时显示，并支持文档内@提及协作者。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eyJfdGVtcGxhdGVEYXRhIjp7ImNvbnRlbnRUeXBlIjoiJGl0ZW0xX2MiLCJsaW5lQ291bnQiOiI1Iiwid29yZENvdW50IjoiMTcifSwidGFnIjoiJGl0ZW0xX2MifQ==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607698" y="1650147"/>
            <a:ext cx="3679987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实时共同编辑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563125" y="4426629"/>
            <a:ext cx="3724560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启用“修订”功能后，所有修改会以不同颜色标记并显示编辑者姓名，历史版本可随时对比还原，避免误改冲突。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eyJfdGVtcGxhdGVEYXRhIjp7ImNvbnRlbnRUeXBlIjoiJGl0ZW0zX2MiLCJsaW5lQ291bnQiOiI1Iiwid29yZENvdW50IjoiMTcifSwidGFnIjoiJGl0ZW0zX2MifQ==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579698" y="3965882"/>
            <a:ext cx="3707987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变更追踪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7913397" y="2110894"/>
            <a:ext cx="3636800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使用“审阅”选项卡中的批注功能添加意见，协作者可回复批注形成对话线程，结合右上角的聊天窗口（Teams集成）实现即时沟通。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eyJfdGVtcGxhdGVEYXRhIjp7ImNvbnRlbnRUeXBlIjoiJGl0ZW0yX2MiLCJsaW5lQ291bnQiOiI1Iiwid29yZENvdW50IjoiMTcifSwidGFnIjoiJGl0ZW0yX2MifQ==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7913397" y="1650147"/>
            <a:ext cx="36533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批注与讨论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913397" y="4426629"/>
            <a:ext cx="3608800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网页版Office支持Chrome/Edge等主流浏览器，即使协作者未安装桌面版Office，仍可通过浏览器参与编辑，保障协作无障碍。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eyJfdGVtcGxhdGVEYXRhIjp7ImNvbnRlbnRUeXBlIjoiJGl0ZW00X2MiLCJsaW5lQ291bnQiOiI1Iiwid29yZENvdW50IjoiMTYifSwidGFnIjoiJGl0ZW00X2MifQ==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913397" y="3965882"/>
            <a:ext cx="36253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平台兼容性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多人协作编辑文档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11" name="Freeform 11"/>
          <p:cNvSpPr/>
          <p:nvPr/>
        </p:nvSpPr>
        <p:spPr>
          <a:xfrm>
            <a:off x="5298153" y="3104315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Freeform 12"/>
          <p:cNvSpPr/>
          <p:nvPr/>
        </p:nvSpPr>
        <p:spPr>
          <a:xfrm>
            <a:off x="4434792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6159720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Freeform 14"/>
          <p:cNvSpPr/>
          <p:nvPr/>
        </p:nvSpPr>
        <p:spPr>
          <a:xfrm>
            <a:off x="6159720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Freeform 15"/>
          <p:cNvSpPr/>
          <p:nvPr/>
        </p:nvSpPr>
        <p:spPr>
          <a:xfrm>
            <a:off x="4434792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4808721" y="2798715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6533649" y="2798715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4808721" y="4523643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6533649" y="4523643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20" name="Freeform 20"/>
          <p:cNvSpPr/>
          <p:nvPr/>
        </p:nvSpPr>
        <p:spPr>
          <a:xfrm>
            <a:off x="5811147" y="368013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9753600" h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rgbClr val="FFFFF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kmuS6uuWNj+S9nOe8lui+keaWh+aho1xuIyMjIOWunuaXtuWFseWQjOe8lui+kVxu5ZyoV29yZC9FeGNlbC9QUFTkuK3pgJrov4dPbmVEcml2ZeaIllNoYXJlUG9pbnTkv53lrZjmlofku7blkI7vvIzlpJrkurrlj6/lkIzml7bnvJbovpHlkIzkuIDmlofmoaPvvIzlhYnmoIfkvY3nva7lkozkv67mlLnlhoXlrrnkvJrlrp7ml7bmmL7npLrvvIzlubbmlK/mjIHmlofmoaPlhoVA5o+Q5Y+K5Y2P5L2c6ICF44CCXG4jIyMg5om55rOo5LiO6K6o6K66XG7kvb/nlKjigJzlrqHpmIXigJ3pgInpobnljaHkuK3nmoTmibnms6jlip/og73mt7vliqDmhI/op4HvvIzljY/kvZzogIXlj6/lm57lpI3mibnms6jlvaLmiJDlr7nor53nur/nqIvvvIznu5PlkIjlj7PkuIrop5LnmoTogYrlpKnnqpflj6PvvIhUZWFtc+mbhuaIkO+8ieWunueOsOWNs+aXtuayn+mAmuOAglxuIyMjIOWPmOabtOi/vei4qlxu5ZCv55So4oCc5L+u6K6i4oCd5Yqf6IO95ZCO77yM5omA5pyJ5L+u5pS55Lya5Lul5LiN5ZCM6aKc6Imy5qCH6K6w5bm25pi+56S657yW6L6R6ICF5aeT5ZCN77yM5Y6G5Y+y54mI5pys5Y+v6ZqP5pe25a+55q+U6L+Y5Y6f77yM6YG/5YWN6K+v5pS55Yay56qB44CCXG4jIyMg5bmz5Y+w5YW85a655oCnXG7nvZHpobXniYhPZmZpY2XmlK/mjIFDaHJvbWUvRWRnZeetieS4u+a1gea1j+iniOWZqO+8jOWNs+S9v+WNj+S9nOiAheacquWuieijheahjOmdoueJiE9mZmljZe+8jOS7jeWPr+mAmui/h+a1j+iniOWZqOWPguS4jue8lui+ke+8jOS/nemanOWNj+S9nOaXoOmanOeijeOAgiIsInRwbGlkIjoiNzIiLCJ0cGxOYW1lIjoibGlzdDRfa20yNDAzMTIwMyIsImVkaXRlZCI6ImZhbHNlIn0=</bd:templateData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版本控制与修订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666708" y="1200845"/>
            <a:ext cx="10965082" cy="1676699"/>
          </a:xfrm>
          <a:prstGeom prst="rect">
            <a:avLst/>
          </a:prstGeom>
          <a:solidFill>
            <a:schemeClr val="lt2">
              <a:alpha val="3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-8100000">
            <a:off x="280801" y="1653287"/>
            <a:ext cx="771814" cy="771814"/>
          </a:xfrm>
          <a:prstGeom prst="rtTriangl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/>
          </a:blip>
          <a:srcRect t="25247" b="25247"/>
          <a:stretch>
            <a:fillRect/>
          </a:stretch>
        </p:blipFill>
        <p:spPr>
          <a:xfrm>
            <a:off x="8550029" y="1334644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6" name="AutoShape 6"/>
          <p:cNvSpPr/>
          <p:nvPr/>
        </p:nvSpPr>
        <p:spPr>
          <a:xfrm>
            <a:off x="668808" y="3026023"/>
            <a:ext cx="10965082" cy="1676699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2700000">
            <a:off x="11245883" y="3478465"/>
            <a:ext cx="771814" cy="771814"/>
          </a:xfrm>
          <a:prstGeom prst="rtTriangle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885002" y="3159822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9" name="AutoShape 9"/>
          <p:cNvSpPr/>
          <p:nvPr/>
        </p:nvSpPr>
        <p:spPr>
          <a:xfrm>
            <a:off x="684216" y="4851200"/>
            <a:ext cx="10965082" cy="1676699"/>
          </a:xfrm>
          <a:prstGeom prst="rect">
            <a:avLst/>
          </a:prstGeom>
          <a:solidFill>
            <a:schemeClr val="lt2">
              <a:alpha val="3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-8100000">
            <a:off x="298309" y="5303643"/>
            <a:ext cx="771814" cy="771814"/>
          </a:xfrm>
          <a:prstGeom prst="rtTriangle">
            <a:avLst/>
          </a:pr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8567537" y="4985000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1459434" y="1444542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自动版本历史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1419388" y="1937100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OneDrive自动保存文件修改记录，用户可回溯任意时间点的版本，支持对比内容差异并恢复至特定版本，防止重要数据覆盖丢失。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eyJfdGVtcGxhdGVEYXRhIjp7ImNvbnRlbnRUeXBlIjoiJGl0ZW0xX2MiLCJsaW5lQ291bnQiOiIyIiwid29yZENvdW50IjoiMzYifSwidGFnIjoiJGl0ZW0xX2MifQ==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4102224" y="3762278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在桌面版Office中通过“文件”&gt;“信息”&gt;“版本历史”手动创建版本快照，适用于重大修改前的节点标记，便于后期追溯关键改动。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eyJfdGVtcGxhdGVEYXRhIjp7ImNvbnRlbnRUeXBlIjoiJGl0ZW0yX2MiLCJsaW5lQ291bnQiOiIyIiwid29yZENvdW50IjoiMzYifSwidGFnIjoiJGl0ZW0yX2MifQ==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1436896" y="5587455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当多人同时修改同一段落时，系统会提示冲突并显示差异内容，用户可选择保留某一方修改或手动整合，确保文档最终一致性。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eyJfdGVtcGxhdGVEYXRhIjp7ImNvbnRlbnRUeXBlIjoiJGl0ZW0zX2MiLCJsaW5lQ291bnQiOiIyIiwid29yZENvdW50IjoiMzYifSwidGFnIjoiJGl0ZW0zX2MifQ==</bd:templateData>
          </p:ext>
        </p:extLst>
      </p:sp>
      <p:sp>
        <p:nvSpPr>
          <p:cNvPr id="16" name="AutoShape 16"/>
          <p:cNvSpPr/>
          <p:nvPr/>
        </p:nvSpPr>
        <p:spPr>
          <a:xfrm>
            <a:off x="4151488" y="3269720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手动保存版本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17" name="AutoShape 17"/>
          <p:cNvSpPr/>
          <p:nvPr/>
        </p:nvSpPr>
        <p:spPr>
          <a:xfrm>
            <a:off x="1486063" y="5094898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合并冲突处理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JiOacrOaOp+WItuS4juS/ruiuolxuIyMjIOiHquWKqOeJiOacrOWOhuWPslxuT25lRHJpdmXoh6rliqjkv53lrZjmlofku7bkv67mlLnorrDlvZXvvIznlKjmiLflj6/lm57muq/ku7vmhI/ml7bpl7TngrnnmoTniYjmnKzvvIzmlK/mjIHlr7nmr5TlhoXlrrnlt67lvILlubbmgaLlpI3oh7PnibnlrprniYjmnKzvvIzpmLLmraLph43opoHmlbDmja7opobnm5bkuKLlpLHjgIJcbiMjIyDmiYvliqjkv53lrZjniYjmnKxcbuWcqOahjOmdoueJiE9mZmljZeS4remAmui/h+KAnOaWh+S7tuKAnT7igJzkv6Hmga/igJ0+4oCc54mI5pys5Y6G5Y+y4oCd5omL5Yqo5Yib5bu654mI5pys5b+r54Wn77yM6YCC55So5LqO6YeN5aSn5L+u5pS55YmN55qE6IqC54K55qCH6K6w77yM5L6/5LqO5ZCO5pyf6L+95rqv5YWz6ZSu5pS55Yqo44CCXG4jIyMg5ZCI5bm25Yay56qB5aSE55CGXG7lvZPlpJrkurrlkIzml7bkv67mlLnlkIzkuIDmrrXokL3ml7bvvIzns7vnu5/kvJrmj5DnpLrlhrLnqoHlubbmmL7npLrlt67lvILlhoXlrrnvvIznlKjmiLflj6/pgInmi6nkv53nlZnmn5DkuIDmlrnkv67mlLnmiJbmiYvliqjmlbTlkIjvvIznoa7kv53mlofmoaPmnIDnu4jkuIDoh7TmgKfjgIIiLCJ0cGxpZCI6IjcyIiwidHBsTmFtZSI6Imxpc3QzXzIwMjUwNzAxMDQiLCJlZGl0ZWQiOiJmYWxzZSJ9</bd:templateData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76385" y="2094092"/>
            <a:ext cx="2239230" cy="1208784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3234036" y="3433643"/>
            <a:ext cx="5723930" cy="1991693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Office高级功能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eyJfdGVtcGxhdGVEYXRhIjp7ImNvbnRlbnRUeXBlIjoiJHRpdGxlIiwibGluZUNvdW50IjoiMyIsIndvcmRDb3VudCI6IjExIn0sInRhZyI6IiR0aXRsZSJ9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eyJtZCI6IiMjIE9mZmljZemrmOe6p+WKn+iDvSIsInRwbGlkIjoiNzIiLCJ0cGxOYW1lIjoiaDJ0aXRsZV83MmJsdWVJbmsyMzEyMjAwMSIsImVkaXRlZCI6ImZhbHNlIn0=</bd:templateData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41657" b="41657"/>
          <a:stretch>
            <a:fillRect/>
          </a:stretch>
        </p:blipFill>
        <p:spPr>
          <a:xfrm>
            <a:off x="-227" y="1719338"/>
            <a:ext cx="12192000" cy="20343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AutoShape 3"/>
          <p:cNvSpPr/>
          <p:nvPr/>
        </p:nvSpPr>
        <p:spPr>
          <a:xfrm>
            <a:off x="-227" y="1719338"/>
            <a:ext cx="12192000" cy="2034324"/>
          </a:xfrm>
          <a:prstGeom prst="rect">
            <a:avLst/>
          </a:prstGeom>
          <a:gradFill>
            <a:gsLst>
              <a:gs pos="0">
                <a:schemeClr val="accent1">
                  <a:alpha val="83000"/>
                  <a:lumMod val="20000"/>
                  <a:lumOff val="80000"/>
                </a:schemeClr>
              </a:gs>
              <a:gs pos="96000">
                <a:schemeClr val="accent1">
                  <a:alpha val="83000"/>
                </a:schemeClr>
              </a:gs>
            </a:gsLst>
            <a:lin ang="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宏录制与应用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741935" y="2639356"/>
            <a:ext cx="5232953" cy="3645646"/>
          </a:xfrm>
          <a:prstGeom prst="roundRect">
            <a:avLst>
              <a:gd name="adj" fmla="val 858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1153246" y="3097982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自动化重复操作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1153246" y="3950024"/>
            <a:ext cx="4314344" cy="1960925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通过宏录制器可将Excel中的格式设置、数据录入等重复操作转化为VBA代码。例如批量调整单元格格式时，只需录制一次操作流程，后续通过快捷键或按钮即可快速执行，显著提升数据处理效率。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eyJfdGVtcGxhdGVEYXRhIjp7ImNvbnRlbnRUeXBlIjoiJGl0ZW0xX2MiLCJsaW5lQ291bnQiOiI2Iiwid29yZENvdW50IjoiMjMifSwidGFnIjoiJGl0ZW0xX2MifQ==</bd:templateData>
          </p:ext>
        </p:extLst>
      </p:sp>
      <p:sp>
        <p:nvSpPr>
          <p:cNvPr id="8" name="AutoShape 8"/>
          <p:cNvSpPr/>
          <p:nvPr/>
        </p:nvSpPr>
        <p:spPr>
          <a:xfrm>
            <a:off x="1228221" y="3723890"/>
            <a:ext cx="4239369" cy="1905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6266497" y="2639356"/>
            <a:ext cx="5232953" cy="3645646"/>
          </a:xfrm>
          <a:prstGeom prst="roundRect">
            <a:avLst>
              <a:gd name="adj" fmla="val 7569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6677808" y="3097982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自定义功能扩展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6677808" y="3950024"/>
            <a:ext cx="4314344" cy="1960925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宏支持复杂逻辑的自动化任务，如自动导入外部数据源（Access数据库）、生成动态报表。用户可对录制的宏代码进行二次编辑，实现条件判断、循环等高级功能，突破Office原生功能限制。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eyJfdGVtcGxhdGVEYXRhIjp7ImNvbnRlbnRUeXBlIjoiJGl0ZW0yX2MiLCJsaW5lQ291bnQiOiI2Iiwid29yZENvdW50IjoiMjMifSwidGFnIjoiJGl0ZW0yX2MifQ==</bd:templateData>
          </p:ext>
        </p:extLst>
      </p:sp>
      <p:sp>
        <p:nvSpPr>
          <p:cNvPr id="12" name="AutoShape 12"/>
          <p:cNvSpPr/>
          <p:nvPr/>
        </p:nvSpPr>
        <p:spPr>
          <a:xfrm>
            <a:off x="6752783" y="3723890"/>
            <a:ext cx="4239369" cy="19050"/>
          </a:xfrm>
          <a:prstGeom prst="rect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uj+W9leWItuS4juW6lOeUqFxuIyMjIOiHquWKqOWMlumHjeWkjeaTjeS9nFxu6YCa6L+H5a6P5b2V5Yi25Zmo5Y+v5bCGRXhjZWzkuK3nmoTmoLzlvI/orr7nva7jgIHmlbDmja7lvZXlhaXnrYnph43lpI3mk43kvZzovazljJbkuLpWQkHku6PnoIHjgILkvovlpoLmibnph4/osIPmlbTljZXlhYPmoLzmoLzlvI/ml7bvvIzlj6rpnIDlvZXliLbkuIDmrKHmk43kvZzmtYHnqIvvvIzlkI7nu63pgJrov4flv6vmjbfplK7miJbmjInpkq7ljbPlj6/lv6vpgJ/miafooYzvvIzmmL7okZfmj5DljYfmlbDmja7lpITnkIbmlYjnjofjgIJcbiMjIyDoh6rlrprkuYnlip/og73mianlsZVcbuWuj+aUr+aMgeWkjeadgumAu+i+keeahOiHquWKqOWMluS7u+WKoe+8jOWmguiHquWKqOWvvOWFpeWklumDqOaVsOaNrua6kO+8iEFjY2Vzc+aVsOaNruW6k++8ieOAgeeUn+aIkOWKqOaAgeaKpeihqOOAgueUqOaIt+WPr+WvueW9leWItueahOWuj+S7o+eggei/m+ihjOS6jOasoee8lui+ke+8jOWunueOsOadoeS7tuWIpOaWreOAgeW+queOr+etiemrmOe6p+WKn+iDve+8jOeqgeegtE9mZmljZeWOn+eUn+WKn+iDvemZkOWItuOAgiIsInRwbGlkIjoiNzIiLCJ0cGxOYW1lIjoibGlzdDJfMjAyNTA2MzAwMSIsImVkaXRlZCI6ImZhbHNlIn0=</bd:templateData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6687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621138" y="1434529"/>
            <a:ext cx="3097028" cy="4476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标准化文档框架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20970" y="1909320"/>
            <a:ext cx="3219785" cy="259276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在Word中保存包含样式、页眉页脚、内容控件的.dotx模板，可确保团队文档风格统一。通过插入下拉列表、图片占位符等控件，能引导用户规范填写内容，特别适用于合同、报告等结构化文档。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eyJfdGVtcGxhdGVEYXRhIjp7ImNvbnRlbnRUeXBlIjoiJGl0ZW0xX2MiLCJsaW5lQ291bnQiOiI3Iiwid29yZENvdW50IjoiMTQifSwidGFnIjoiJGl0ZW0xX2MifQ==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模板创建与使用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57038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7" name="AutoShape 7"/>
          <p:cNvSpPr/>
          <p:nvPr/>
        </p:nvSpPr>
        <p:spPr>
          <a:xfrm>
            <a:off x="4413022" y="2732446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438423" y="3162514"/>
            <a:ext cx="3123643" cy="4476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快速启动复杂项目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457306" y="3649390"/>
            <a:ext cx="3219785" cy="259276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Excel模板可预置公式、数据验证规则及宏代码。例如财务模型模板可内置现金流量表计算逻辑，用户仅需输入基础数据即可自动生成分析结果，减少重建模型的时间成本。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eyJfdGVtcGxhdGVEYXRhIjp7ImNvbnRlbnRUeXBlIjoiJGl0ZW0yX2MiLCJsaW5lQ291bnQiOiI3Iiwid29yZENvdW50IjoiMTQifSwidGFnIjoiJGl0ZW0yX2MifQ==</bd:templateData>
          </p:ext>
        </p:extLst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 t="1993" b="1993"/>
          <a:stretch>
            <a:fillRect/>
          </a:stretch>
        </p:blipFill>
        <p:spPr>
          <a:xfrm>
            <a:off x="4406723" y="1256209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1" name="AutoShape 11"/>
          <p:cNvSpPr/>
          <p:nvPr/>
        </p:nvSpPr>
        <p:spPr>
          <a:xfrm>
            <a:off x="8289006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342981" y="1434529"/>
            <a:ext cx="3077021" cy="4476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跨版本兼容处理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8333289" y="1924249"/>
            <a:ext cx="3219785" cy="259276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将早期版本模板转换为.dotm格式时，需通过"文件&gt;信息&gt;转换"更新文件结构。启用宏的模板需特别注意安全设置，建议存储在受信任位置以避免运行时被拦截。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eyJfdGVtcGxhdGVEYXRhIjp7ImNvbnRlbnRUeXBlIjoiJGl0ZW0zX2MiLCJsaW5lQ291bnQiOiI3Iiwid29yZENvdW50IjoiMTQifSwidGFnIjoiJGl0ZW0zX2MifQ==</bd:templateData>
          </p:ext>
        </p:extLst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/>
          </a:blip>
          <a:srcRect l="9742" r="9742"/>
          <a:stretch>
            <a:fillRect/>
          </a:stretch>
        </p:blipFill>
        <p:spPr>
          <a:xfrm>
            <a:off x="828270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ooeadv+WIm+W7uuS4juS9v+eUqFxuIyMjIOagh+WHhuWMluaWh+aho+ahhuaetlxu5ZyoV29yZOS4reS/neWtmOWMheWQq+agt+W8j+OAgemhteeciemhteiEmuOAgeWGheWuueaOp+S7tueahC5kb3R45qih5p2/77yM5Y+v56Gu5L+d5Zui6Zif5paH5qGj6aOO5qC857uf5LiA44CC6YCa6L+H5o+S5YWl5LiL5ouJ5YiX6KGo44CB5Zu+54mH5Y2g5L2N56ym562J5o6n5Lu277yM6IO95byV5a+855So5oi36KeE6IyD5aGr5YaZ5YaF5a6577yM54m55Yir6YCC55So5LqO5ZCI5ZCM44CB5oql5ZGK562J57uT5p6E5YyW5paH5qGj44CCXG4jIyMg5b+r6YCf5ZCv5Yqo5aSN5p2C6aG555uuXG5FeGNlbOaooeadv+WPr+mihOe9ruWFrOW8j+OAgeaVsOaNrumqjOivgeinhOWImeWPiuWuj+S7o+eggeOAguS+i+Wmgui0ouWKoeaooeWei+aooeadv+WPr+WGhee9rueOsOmHkea1gemHj+ihqOiuoeeul+mAu+i+ke+8jOeUqOaIt+S7hemcgOi+k+WFpeWfuuehgOaVsOaNruWNs+WPr+iHquWKqOeUn+aIkOWIhuaekOe7k+aenO+8jOWHj+WwkemHjeW7uuaooeWei+eahOaXtumXtOaIkOacrOOAglxuIyMjIOi3qOeJiOacrOWFvOWuueWkhOeQhlxu5bCG5pep5pyf54mI5pys5qih5p2/6L2s5o2i5Li6LmRvdG3moLzlvI/ml7bvvIzpnIDpgJrov4dcIuaWh+S7tj7kv6Hmga8+6L2s5o2iXCLmm7TmlrDmlofku7bnu5PmnoTjgILlkK/nlKjlro/nmoTmqKHmnb/pnIDnibnliKvms6jmhI/lronlhajorr7nva7vvIzlu7rorq7lrZjlgqjlnKjlj5fkv6Hku7vkvY3nva7ku6Xpgb/lhY3ov5DooYzml7booqvmi6bmiKrjgIIiLCJ0cGxpZCI6IjcyIiwidHBsTmFtZSI6Imxpc3QzX0ltZzEwIiwiZWRpdGVkIjoiZmFsc2UifQ==</bd:templateData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5332" y="1744635"/>
            <a:ext cx="4285297" cy="428532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eyJfdGVtcGxhdGVEYXRhIjp7ImNvbnRlbnRUeXBlIjoiJGltZzAiLCJuZWVkUmVwbGFjZSI6dHJ1ZSwidHlwZSI6ImltYWdlIn0sInRhZyI6IiRpbWcwIn0=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跨平台办公技巧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4" name="AutoShape 4"/>
          <p:cNvSpPr/>
          <p:nvPr/>
        </p:nvSpPr>
        <p:spPr>
          <a:xfrm>
            <a:off x="3729746" y="176967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3923235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移动端适配优化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eyJfdGVtcGxhdGVEYXRhIjp7ImNvbnRlbnRUeXBlIjoiJGl0ZW0yX3RpdGxlIiwibGluZUNvdW50IjoiMSIsIndvcmRDb3VudCI6IjcifSwidGFnIjoiJGl0ZW0yX3RpdGxlIn0=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3923235" y="275785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在iPad等移动设备使用Office时，优先选择响应式模板布局。避免使用复杂宏功能，改用Power Automate实现跨平台自动化流程，兼顾功能性与兼容性。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eyJfdGVtcGxhdGVEYXRhIjp7ImNvbnRlbnRUeXBlIjoiJGl0ZW0yX2MiLCJsaW5lQ291bnQiOiI4Iiwid29yZENvdW50IjoiMTEifSwidGFnIjoiJGl0ZW0yX2MifQ==</bd:templateData>
          </p:ext>
        </p:extLst>
      </p:sp>
      <p:sp>
        <p:nvSpPr>
          <p:cNvPr id="7" name="AutoShape 7"/>
          <p:cNvSpPr/>
          <p:nvPr/>
        </p:nvSpPr>
        <p:spPr>
          <a:xfrm>
            <a:off x="556553" y="176476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50042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云端协作同步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eyJfdGVtcGxhdGVEYXRhIjp7ImNvbnRlbnRUeXBlIjoiJGl0ZW0xX3RpdGxlIiwibGluZUNvdW50IjoiMSIsIndvcmRDb3VudCI6IjcifSwidGFnIjoiJGl0ZW0xX3RpdGxlIn0=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50042" y="275294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利用OneDrive存储个人宏工作簿（PERSONAL.XLSB）和常用模板，可在不同设备间保持功能一致性。修改后的模板会自动同步，确保团队始终使用最新版本。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eyJfdGVtcGxhdGVEYXRhIjp7ImNvbnRlbnRUeXBlIjoiJGl0ZW0xX2MiLCJsaW5lQ291bnQiOiI4Iiwid29yZENvdW50IjoiMTEifSwidGFnIjoiJGl0ZW0xX2MifQ==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i3qOW5s+WPsOWKnuWFrOaKgOW3p1xuIyMjIOS6keerr+WNj+S9nOWQjOatpVxu5Yip55SoT25lRHJpdmXlrZjlgqjkuKrkurrlro/lt6XkvZznsL/vvIhQRVJTT05BTC5YTFNC77yJ5ZKM5bi455So5qih5p2/77yM5Y+v5Zyo5LiN5ZCM6K6+5aSH6Ze05L+d5oyB5Yqf6IO95LiA6Ie05oCn44CC5L+u5pS55ZCO55qE5qih5p2/5Lya6Ieq5Yqo5ZCM5q2l77yM56Gu5L+d5Zui6Zif5aeL57uI5L2/55So5pyA5paw54mI5pys44CCXG4jIyMg56e75Yqo56uv6YCC6YWN5LyY5YyWXG7lnKhpUGFk562J56e75Yqo6K6+5aSH5L2/55SoT2ZmaWNl5pe277yM5LyY5YWI6YCJ5oup5ZON5bqU5byP5qih5p2/5biD5bGA44CC6YG/5YWN5L2/55So5aSN5p2C5a6P5Yqf6IO977yM5pS555SoUG93ZXIgQXV0b21hdGXlrp7njrDot6jlubPlj7Doh6rliqjljJbmtYHnqIvvvIzlhbzpob7lip/og73mgKfkuI7lhbzlrrnmgKfjgIIiLCJ0cGxpZCI6IjcyIiwidHBsTmFtZSI6Imxpc3QyX0ltZ0MxIiwiZWRpdGVkIjoiZmFsc2UifQ==</bd:templateData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795" y="2318726"/>
            <a:ext cx="7336155" cy="1415415"/>
          </a:xfrm>
          <a:prstGeom prst="rect">
            <a:avLst/>
          </a:prstGeom>
          <a:noFill/>
          <a:ln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9000" b="1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eyJfdGVtcGxhdGVEYXRhIjp7ImNvbnRlbnRUeXBlIjoiJGVuZGluZ18xIiwibGluZUNvdW50IjoiMSIsIndvcmRDb3VudCI6IjUifSwidGFnIjoibm9FZGl0In0=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eyJtZCI6IiIsInRwbGlkIjoiNzIiLCJ0cGxOYW1lIjoiZW5kXzcyYmx1ZUluazIzMTIyMDAxIiwiZWRpdGVkIjoiZmFsc2UifQ==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FFD"/>
      </a:lt1>
      <a:dk2>
        <a:srgbClr val="003C35"/>
      </a:dk2>
      <a:lt2>
        <a:srgbClr val="FFFFFF"/>
      </a:lt2>
      <a:accent1>
        <a:srgbClr val="00A5B2"/>
      </a:accent1>
      <a:accent2>
        <a:srgbClr val="52C6B8"/>
      </a:accent2>
      <a:accent3>
        <a:srgbClr val="00657D"/>
      </a:accent3>
      <a:accent4>
        <a:srgbClr val="58C19B"/>
      </a:accent4>
      <a:accent5>
        <a:srgbClr val="6DD690"/>
      </a:accent5>
      <a:accent6>
        <a:srgbClr val="9CCAFF"/>
      </a:accent6>
      <a:hlink>
        <a:srgbClr val="05C6AF"/>
      </a:hlink>
      <a:folHlink>
        <a:srgbClr val="05C6A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Microsoft Office PowerPoint</Application>
  <PresentationFormat>宽屏</PresentationFormat>
  <Paragraphs>163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Noto Sans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u wu</cp:lastModifiedBy>
  <cp:revision>3</cp:revision>
  <dcterms:created xsi:type="dcterms:W3CDTF">2025-10-20T11:38:53Z</dcterms:created>
  <dcterms:modified xsi:type="dcterms:W3CDTF">2026-01-04T10:23:33Z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9b8a2585cf172dcd6ecdd7688799442e_1767522153_93c73ec80639ee795774b02efd0bdb69","ReservedCode1":"56b59efac6651bcc1454d400897654ffd329d479ce94d66e1f83db1766fc6da7","ContentPropagator":"001191110000802100433B10001","PropagateID":"9b8a2585cf172dcd6ecdd7688799442e_1767522153_93c73ec80639ee795774b02efd0bdb69","ReservedCode2":"56b59efac6651bcc1454d400897654ffd329d479ce94d66e1f83db1766fc6da7"}</vt:lpwstr>
  </property>
</Properties>
</file>