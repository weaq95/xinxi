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4"/>
  </p:normalViewPr>
  <p:slideViewPr>
    <p:cSldViewPr snapToGrid="0">
      <p:cViewPr varScale="1">
        <p:scale>
          <a:sx n="83" d="100"/>
          <a:sy n="83" d="100"/>
        </p:scale>
        <p:origin x="18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4D715-50C3-B803-A8ED-E297CF0F2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2D1C8FA-4E74-3C2B-B2E1-90179EE0F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F96F5C-20E8-D5B3-4B51-E00FBADC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CA3150-268E-E144-EB8E-C83266A4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9375F-A225-D342-874D-7AF26BF3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15261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.xml.png" type="slideLayout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BA219-D050-862C-E65B-9683A3676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736A5-1585-C5FA-D2FE-8F5ED1377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E2F4FD-E8D7-1C42-14C4-121EA0992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D03D1D-7811-D79C-3E26-008C62664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5FEE4B-101F-62CC-E69D-F081B97B9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7147540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2.xml.png" type="slideLayout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0E9EE-8C71-67D4-A2BC-53B10698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09279D-06F0-EFDE-9CD6-193A29D31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B3CCE7-DC65-DA1D-3E8E-70130CD6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74EE2-CD7D-A99C-E5D2-1366E53C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52B1E2-E5C3-92D1-FF78-B950DDC1B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822510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3.xml.png" type="slideLayout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817C-99A1-757B-E4AD-A4032027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17D338-6AC5-3B05-1915-B1578DB8BD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8E3BF0-2279-8BF3-1C0E-03C9E7BF3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8EC9A-56DC-2B36-BF93-CCB1A8E3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3D304B-FAC1-533F-1456-38E73C2AF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6F4D4A-E839-BFE4-78EA-559F4A54D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786054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4.xml.png" type="slideLayout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C5FF1-6080-2725-74AB-5FF7D3F27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A501C3-38EB-2364-C39C-33279253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EEC63D-4589-C043-285B-B8127689F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810A47-0A22-AB30-2FCE-43F3C972A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8C72C7-7B09-FD2C-30C5-4350039BAB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3957867-163A-9E7A-AE92-DDB0D8E1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0928ED-F638-2A81-FAF0-17D14FCA9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5BCCDA-B30D-A94D-59C6-47F63025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0130515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5.xml.png" type="slideLayout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DB04-0D11-419F-4D88-8EE71954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FF8EF7-C3FC-15DF-EB99-F3AFA6C5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A37BA3-FB71-5172-B46A-25DF8DB9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0FED2D-6DE6-4528-CEC4-A1B115005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178146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6.xml.png" type="slideLayout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4BDD16-6439-B908-EDD7-E328E0DBD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04F1C-1C5E-FF25-BFF4-A2FD0C4A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C5C0E4-D1F8-57FC-808D-20A6FC4D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038035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7.xml.png" type="slideLayout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43FCD8-D346-D209-27B3-7C09A6E16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B47027-3D1C-237E-E4D0-376667F14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04B274-03F4-DFA5-61F7-9E8E0AC98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BAC8FF-DC28-5C76-6936-568A1EF2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62A2AA-F26F-56C5-60C1-F265434CD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79CC6C-B836-7CF1-8B26-F26AD143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0346981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8.xml.png" type="slideLayout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E0D37B-120B-5DC1-45AB-49EAA8B7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B5A8308-143D-B013-FA6D-13A508B23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9730FC-073C-5B6F-22E8-FA4523B5C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007D1-71A0-CD5F-5290-4EB94B792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971ABE-DCFA-3F63-9336-9EBAF4904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86D08-7017-BD7F-109B-79A0EF202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51326504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9.xml.png" type="slideLayout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9FE248-CB53-29A6-B21F-1B9B25DD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CB66B5-34D0-BDE9-5932-0E416504F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D9B6BF-E627-7250-3EDA-1287E1110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7CADA8-4560-F141-7ED6-BD570DF74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90A53-D30B-FB19-DA4E-56FFB4BE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1721733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0.xml.png" type="slideLayout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20F4DD-F736-F394-947B-5741BD745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E099BE-C301-7614-65DF-46D9E84D64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36390-1E46-C21F-75CD-E31A78324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5A1DA6-C2F0-C179-3F42-8D6667B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619AC8-8FAF-9013-7FB4-18456D33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3299543"/>
      </p:ext>
    </p:extLst>
  </p:cSld>
  <p:clrMapOvr>
    <a:masterClrMapping/>
  </p:clrMapOvr>
  <p:extLst>
    <p:ext uri="ooxmlsdk">
      <ooxmlsdk:mediaFallback xmlns:ooxmlsdkcls="c:OOXMLSDK_CT_MediaFallback" xmlns:ooxmlsdk="ooxmlsdk" xmlns="" target="/slidelayout//ppt/slideLayouts/slideLayout11.xml.png" type="slideLayout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9C2722-3B8C-2065-5AC5-263CFE98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7A3692-2AD9-CE6F-D53F-7845B9B3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51CEA3-90BC-60A3-2BF0-EFFB67E7C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  <a:t>2026/1/4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196AE0-833D-16AA-C61D-4401D75F8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BC43C-0D70-FA29-5981-9056C9645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48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jpg"/><Relationship Id="rId4" Type="http://schemas.openxmlformats.org/officeDocument/2006/relationships/image" Target="../media/image38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274907" y="4245049"/>
            <a:ext cx="5642227" cy="572207"/>
          </a:xfrm>
          <a:prstGeom prst="roundRect">
            <a:avLst>
              <a:gd name="adj" fmla="val 50000"/>
            </a:avLst>
          </a:prstGeom>
          <a:solidFill>
            <a:srgbClr val="F098B1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2844250" y="1929250"/>
            <a:ext cx="6503541" cy="20002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marL="0" algn="ctr" defTabSz="914400">
              <a:lnSpc>
                <a:spcPct val="100000"/>
              </a:lnSpc>
              <a:spcBef>
                <a:spcPct val="0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5400">
                <a:solidFill>
                  <a:srgbClr val="000000">
                    <a:alpha val="100000"/>
                  </a:srgbClr>
                </a:solidFill>
                <a:latin typeface="仓耳渔阳体 W05"/>
                <a:ea typeface="仓耳渔阳体 W05"/>
                <a:cs typeface="仓耳渔阳体 W05"/>
              </a:rPr>
              <a:t>Office办公软件教程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eyJfdGVtcGxhdGVEYXRhIjp7ImNvbnRlbnRUeXBlIjoiJHRpdGxlIiwibGluZUNvdW50IjoiMiIsIndvcmRDb3VudCI6IjgifSwidGFnIjoiJHRpdGxlIn0=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3935521" y="4290170"/>
            <a:ext cx="2297430" cy="461772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marL="0" algn="l" defTabSz="914400">
              <a:lnSpc>
                <a:spcPct val="120000"/>
              </a:lnSpc>
              <a:spcBef>
                <a:spcPts val="375"/>
              </a:spcBef>
              <a:defRPr sz="1800">
                <a:solidFill>
                  <a:schemeClr val="tx1"/>
                </a:solidFill>
                <a:latin typeface="等线"/>
                <a:ea typeface="宋体"/>
                <a:cs typeface="+mn-cs"/>
              </a:defRPr>
            </a:pPr>
            <a:r>
              <a:rPr lang="en-US" sz="202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制作人:王丽婷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eyJfdGVtcGxhdGVEYXRhIjp7ImNvbnRlbnRUeXBlIjoiJHJlcG9ydGVyX2F1dGhvciIsImxpbmVDb3VudCI6IjEiLCJ3b3JkQ291bnQiOiI3In0sInRhZyI6Im5vRWRpdCJ9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6237296" y="4264018"/>
            <a:ext cx="2086078" cy="534269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025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2026-01-04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eyJfdGVtcGxhdGVEYXRhIjp7ImNvbnRlbnRUeXBlIjoiJERhdGUiLCJsaW5lQ291bnQiOiIxIiwid29yZENvdW50IjoiNiJ9LCJ0YWciOiJub0VkaXQifQ==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eyJtZCI6Ik9mZmljZeWKnuWFrOi9r+S7tuW6lOeUqOaMh+WNlyIsInRwbGlkIjoiMTM3IiwidHBsTmFtZSI6InRpdGxlXzEzN2thaXh1ZSIsImVkaXRlZCI6ImZhbHNlIn0=</bd:templateData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pic>
      <p:sp>
        <p:nvSpPr>
          <p:cNvPr id="3" name="AutoShape 3"/>
          <p:cNvSpPr/>
          <p:nvPr/>
        </p:nvSpPr>
        <p:spPr>
          <a:xfrm>
            <a:off x="560251" y="650430"/>
            <a:ext cx="5535749" cy="1024650"/>
          </a:xfrm>
          <a:prstGeom prst="roundRect">
            <a:avLst>
              <a:gd name="adj" fmla="val 50000"/>
            </a:avLst>
          </a:prstGeom>
          <a:solidFill>
            <a:srgbClr val="F098B1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45530" y="484284"/>
            <a:ext cx="2136058" cy="135694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6000" b="1">
                <a:solidFill>
                  <a:srgbClr val="FFFFFF">
                    <a:alpha val="100000"/>
                  </a:srgbClr>
                </a:solidFill>
                <a:latin typeface="仓耳渔阳体 W05"/>
                <a:ea typeface="仓耳渔阳体 W05"/>
                <a:cs typeface="仓耳渔阳体 W05"/>
              </a:rPr>
              <a:t>目录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2661824" y="779310"/>
            <a:ext cx="3232000" cy="76688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775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/CONTENTS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eyJfdGVtcGxhdGVEYXRhIjp7ImxpbmVDb3VudCI6IjEiLCJ3b3JkQ291bnQiOiIxMCJ9LCJ0YWciOiJub0VkaXQifQ==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6272164" y="2290032"/>
            <a:ext cx="5406500" cy="1119225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6469929" y="2429500"/>
            <a:ext cx="821240" cy="821240"/>
          </a:xfrm>
          <a:prstGeom prst="ellipse">
            <a:avLst/>
          </a:prstGeom>
          <a:solidFill>
            <a:srgbClr val="0071BE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6613849" y="2573420"/>
            <a:ext cx="533400" cy="5334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eyJfdGVtcGxhdGVEYXRhIjp7ImNvbnRlbnRUeXBlIjoiJGlkeDEiLCJsaW5lQ291bnQiOiIxIiwid29yZENvdW50IjoiIn0sInRhZyI6Im5vRWRpdCJ9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426590" y="2478170"/>
            <a:ext cx="3905250" cy="74399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Word文档处理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eyJfdGVtcGxhdGVEYXRhIjp7ImNvbnRlbnRUeXBlIjoiJGNhdGExIiwibGluZUNvdW50IjoiMiIsIndvcmRDb3VudCI6IjEyIn0sInRhZyI6Im5vRWRpdCJ9</bd:templateData>
          </p:ext>
        </p:extLst>
      </p:sp>
      <p:sp>
        <p:nvSpPr>
          <p:cNvPr id="10" name="AutoShape 10"/>
          <p:cNvSpPr/>
          <p:nvPr/>
        </p:nvSpPr>
        <p:spPr>
          <a:xfrm>
            <a:off x="547994" y="3716967"/>
            <a:ext cx="5406500" cy="1119225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745760" y="3856434"/>
            <a:ext cx="821240" cy="821240"/>
          </a:xfrm>
          <a:prstGeom prst="ellipse">
            <a:avLst/>
          </a:prstGeom>
          <a:solidFill>
            <a:srgbClr val="C7534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889680" y="4000355"/>
            <a:ext cx="533400" cy="5334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eyJfdGVtcGxhdGVEYXRhIjp7ImNvbnRlbnRUeXBlIjoiJGlkeDIiLCJsaW5lQ291bnQiOiIxIiwid29yZENvdW50IjoiIn0sInRhZyI6Im5vRWRpdCJ9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1702421" y="3905105"/>
            <a:ext cx="3905250" cy="74399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Excel数据处理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eyJfdGVtcGxhdGVEYXRhIjp7ImNvbnRlbnRUeXBlIjoiJGNhdGEyIiwibGluZUNvdW50IjoiMiIsIndvcmRDb3VudCI6IjEyIn0sInRhZyI6Im5vRWRpdCJ9</bd:templateData>
          </p:ext>
        </p:extLst>
      </p:sp>
      <p:sp>
        <p:nvSpPr>
          <p:cNvPr id="14" name="AutoShape 14"/>
          <p:cNvSpPr/>
          <p:nvPr/>
        </p:nvSpPr>
        <p:spPr>
          <a:xfrm>
            <a:off x="6272164" y="3716967"/>
            <a:ext cx="5406500" cy="1119225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AutoShape 15"/>
          <p:cNvSpPr/>
          <p:nvPr/>
        </p:nvSpPr>
        <p:spPr>
          <a:xfrm>
            <a:off x="6469929" y="3856434"/>
            <a:ext cx="821240" cy="821240"/>
          </a:xfrm>
          <a:prstGeom prst="ellipse">
            <a:avLst/>
          </a:prstGeom>
          <a:solidFill>
            <a:schemeClr val="lt1">
              <a:alpha val="100000"/>
              <a:lumMod val="6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6613849" y="4000355"/>
            <a:ext cx="533400" cy="5334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eyJfdGVtcGxhdGVEYXRhIjp7ImNvbnRlbnRUeXBlIjoiJGlkeDMiLCJsaW5lQ291bnQiOiIxIiwid29yZENvdW50IjoiIn0sInRhZyI6Im5vRWRpdCJ9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7426590" y="3905105"/>
            <a:ext cx="3905250" cy="74399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PowerPoint演示制作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eyJfdGVtcGxhdGVEYXRhIjp7ImNvbnRlbnRUeXBlIjoiJGNhdGEzIiwibGluZUNvdW50IjoiMiIsIndvcmRDb3VudCI6IjEyIn0sInRhZyI6Im5vRWRpdCJ9</bd:templateData>
          </p:ext>
        </p:extLst>
      </p:sp>
      <p:sp>
        <p:nvSpPr>
          <p:cNvPr id="18" name="AutoShape 18"/>
          <p:cNvSpPr/>
          <p:nvPr/>
        </p:nvSpPr>
        <p:spPr>
          <a:xfrm>
            <a:off x="547994" y="5129624"/>
            <a:ext cx="5406500" cy="1119225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9" name="AutoShape 19"/>
          <p:cNvSpPr/>
          <p:nvPr/>
        </p:nvSpPr>
        <p:spPr>
          <a:xfrm>
            <a:off x="745760" y="5269091"/>
            <a:ext cx="821240" cy="821240"/>
          </a:xfrm>
          <a:prstGeom prst="ellipse">
            <a:avLst/>
          </a:prstGeom>
          <a:solidFill>
            <a:srgbClr val="4845AB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889680" y="5413011"/>
            <a:ext cx="533400" cy="5334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eyJfdGVtcGxhdGVEYXRhIjp7ImNvbnRlbnRUeXBlIjoiJGlkeDQiLCJsaW5lQ291bnQiOiIxIiwid29yZENvdW50IjoiIn0sInRhZyI6Im5vRWRpdCJ9</bd:templateData>
          </p:ext>
        </p:extLst>
      </p:sp>
      <p:sp>
        <p:nvSpPr>
          <p:cNvPr id="21" name="TextBox 21"/>
          <p:cNvSpPr txBox="1"/>
          <p:nvPr/>
        </p:nvSpPr>
        <p:spPr>
          <a:xfrm>
            <a:off x="1702421" y="5317761"/>
            <a:ext cx="3905250" cy="74399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Office协同办公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eyJfdGVtcGxhdGVEYXRhIjp7ImNvbnRlbnRUeXBlIjoiJGNhdGE0IiwibGluZUNvdW50IjoiMiIsIndvcmRDb3VudCI6IjEyIn0sInRhZyI6Im5vRWRpdCJ9</bd:templateData>
          </p:ext>
        </p:extLst>
      </p:sp>
      <p:sp>
        <p:nvSpPr>
          <p:cNvPr id="22" name="AutoShape 22"/>
          <p:cNvSpPr/>
          <p:nvPr/>
        </p:nvSpPr>
        <p:spPr>
          <a:xfrm>
            <a:off x="6272164" y="5129624"/>
            <a:ext cx="5406500" cy="1119225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3" name="AutoShape 23"/>
          <p:cNvSpPr/>
          <p:nvPr/>
        </p:nvSpPr>
        <p:spPr>
          <a:xfrm>
            <a:off x="6469929" y="5269091"/>
            <a:ext cx="821240" cy="821240"/>
          </a:xfrm>
          <a:prstGeom prst="ellipse">
            <a:avLst/>
          </a:prstGeom>
          <a:solidFill>
            <a:srgbClr val="39967B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6613849" y="5413011"/>
            <a:ext cx="533400" cy="5334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eyJfdGVtcGxhdGVEYXRhIjp7ImNvbnRlbnRUeXBlIjoiJGlkeDUiLCJsaW5lQ291bnQiOiIxIiwid29yZENvdW50IjoiIn0sInRhZyI6Im5vRWRpdCJ9</bd:templateData>
          </p:ext>
        </p:extLst>
      </p:sp>
      <p:sp>
        <p:nvSpPr>
          <p:cNvPr id="25" name="TextBox 25"/>
          <p:cNvSpPr txBox="1"/>
          <p:nvPr/>
        </p:nvSpPr>
        <p:spPr>
          <a:xfrm>
            <a:off x="7426590" y="5317761"/>
            <a:ext cx="3905250" cy="74399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Office高级技巧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eyJfdGVtcGxhdGVEYXRhIjp7ImNvbnRlbnRUeXBlIjoiJGNhdGE1IiwibGluZUNvdW50IjoiMiIsIndvcmRDb3VudCI6IjEyIn0sInRhZyI6Im5vRWRpdCJ9</bd:templateData>
          </p:ext>
        </p:extLst>
      </p:sp>
      <p:sp>
        <p:nvSpPr>
          <p:cNvPr id="26" name="AutoShape 26"/>
          <p:cNvSpPr/>
          <p:nvPr/>
        </p:nvSpPr>
        <p:spPr>
          <a:xfrm>
            <a:off x="547994" y="2290032"/>
            <a:ext cx="5406500" cy="1119225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7" name="AutoShape 27"/>
          <p:cNvSpPr/>
          <p:nvPr/>
        </p:nvSpPr>
        <p:spPr>
          <a:xfrm>
            <a:off x="745760" y="2429500"/>
            <a:ext cx="821240" cy="82124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8" name="TextBox 28"/>
          <p:cNvSpPr txBox="1"/>
          <p:nvPr/>
        </p:nvSpPr>
        <p:spPr>
          <a:xfrm>
            <a:off x="889680" y="2573420"/>
            <a:ext cx="533400" cy="5334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2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eyJfdGVtcGxhdGVEYXRhIjp7ImNvbnRlbnRUeXBlIjoiJGlkeDAiLCJsaW5lQ291bnQiOiIxIiwid29yZENvdW50IjoiIn0sInRhZyI6Im5vRWRpdCJ9</bd:templateData>
          </p:ext>
        </p:extLst>
      </p:sp>
      <p:sp>
        <p:nvSpPr>
          <p:cNvPr id="29" name="TextBox 29"/>
          <p:cNvSpPr txBox="1"/>
          <p:nvPr/>
        </p:nvSpPr>
        <p:spPr>
          <a:xfrm>
            <a:off x="1702421" y="2478170"/>
            <a:ext cx="3905250" cy="743995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210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Office基础概述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eyJfdGVtcGxhdGVEYXRhIjp7ImNvbnRlbnRUeXBlIjoiJGNhdGEwIiwibGluZUNvdW50IjoiMiIsIndvcmRDb3VudCI6IjEyIn0sInRhZyI6Im5vRWRpdCJ9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eyJtZCI6IuebruW9lVxuT2ZmaWNl5Z+656GA5qaC6L+wXG5Xb3Jk5paH5qGj5aSE55CGXG5FeGNlbOaVsOaNruWkhOeQhlxuUG93ZXJQb2ludOa8lOekuuWItuS9nFxuT2ZmaWNl5Y2P5ZCM5Yqe5YWsXG5PZmZpY2Xpq5jnuqfmioDlt6ciLCJ0cGxpZCI6IjEzNyIsInRwbE5hbWUiOiJjYXRhTGlzdF8xMzdrYWl4dWVjNiIsImVkaXRlZCI6ImZhbHNlIn0=</bd:templateData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169" y="2514394"/>
            <a:ext cx="6164285" cy="175221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Office基础概述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673160" y="1704797"/>
            <a:ext cx="1868805" cy="7581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</a:rPr>
              <a:t>PART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544494" y="1514414"/>
            <a:ext cx="971706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eyJtZCI6IiMjIE9mZmljZeWfuuehgOamgui/sCIsInRwbGlkIjoiMTM3IiwidHBsTmFtZSI6ImgydGl0bGVfMTM3a2FpeHVlIiwiZWRpdGVkIjoiZmFsc2UifQ==</bd:templateDa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主要组件介绍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466885" y="2187982"/>
            <a:ext cx="2739046" cy="2739046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Freeform 4"/>
          <p:cNvSpPr/>
          <p:nvPr/>
        </p:nvSpPr>
        <p:spPr>
          <a:xfrm>
            <a:off x="4509171" y="1790522"/>
            <a:ext cx="583851" cy="3533966"/>
          </a:xfrm>
          <a:custGeom>
            <a:avLst/>
            <a:gdLst/>
            <a:ahLst/>
            <a:cxnLst/>
            <a:rect l="l" t="t" r="r" b="b"/>
            <a:pathLst>
              <a:path w="583851" h="3533966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5347614" y="506720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6414867" y="5045544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PowerPoint（演示文稿）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eyJfdGVtcGxhdGVEYXRhIjp7ImNvbnRlbnRUeXBlIjoiJGl0ZW0zX3RpdGxlIiwibGluZUNvdW50IjoiMSIsIndvcmRDb3VudCI6IjEyIn0sInRhZyI6IiRpdGVtM190aXRsZSJ9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5452715" y="5573201"/>
            <a:ext cx="5194466" cy="964797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专为幻灯片设计开发，支持动画效果、多媒体嵌入和远程演示，广泛用于会议汇报、教学课件等展示需求。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eyJfdGVtcGxhdGVEYXRhIjp7ImNvbnRlbnRUeXBlIjoiJGl0ZW0zX2MiLCJsaW5lQ291bnQiOiIzIiwid29yZENvdW50IjoiMjgifSwidGFnIjoiJGl0ZW0zX2MifQ==</bd:templateData>
          </p:ext>
        </p:extLst>
      </p:sp>
      <p:sp>
        <p:nvSpPr>
          <p:cNvPr id="8" name="AutoShape 8"/>
          <p:cNvSpPr/>
          <p:nvPr/>
        </p:nvSpPr>
        <p:spPr>
          <a:xfrm>
            <a:off x="5347614" y="3298365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6414867" y="3276708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Excel（电子表格）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eyJfdGVtcGxhdGVEYXRhIjp7ImNvbnRlbnRUeXBlIjoiJGl0ZW0yX3RpdGxlIiwibGluZUNvdW50IjoiMSIsIndvcmRDb3VudCI6IjEyIn0sInRhZyI6IiRpdGVtMl90aXRsZSJ9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5452715" y="3804364"/>
            <a:ext cx="5194466" cy="1061273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提供数据计算、分析和可视化工具，内置函数、数据透视表和图表功能，适用于财务统计、项目管理等数据处理场景。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eyJfdGVtcGxhdGVEYXRhIjp7ImNvbnRlbnRUeXBlIjoiJGl0ZW0yX2MiLCJsaW5lQ291bnQiOiI0Iiwid29yZENvdW50IjoiMjgifSwidGFnIjoiJGl0ZW0yX2MifQ==</bd:templateData>
          </p:ext>
        </p:extLst>
      </p:sp>
      <p:sp>
        <p:nvSpPr>
          <p:cNvPr id="11" name="AutoShape 11"/>
          <p:cNvSpPr/>
          <p:nvPr/>
        </p:nvSpPr>
        <p:spPr>
          <a:xfrm>
            <a:off x="5347614" y="155656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AutoShape 12"/>
          <p:cNvSpPr/>
          <p:nvPr/>
        </p:nvSpPr>
        <p:spPr>
          <a:xfrm>
            <a:off x="6414867" y="1534903"/>
            <a:ext cx="3165062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Word（文字处理）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5452715" y="2062560"/>
            <a:ext cx="5194466" cy="1057947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14999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用于创建和编辑专业文档，支持复杂排版、图文混排、表格插入及文档审阅功能，适用于报告、合同等文本密集型工作。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eyJfdGVtcGxhdGVEYXRhIjp7ImNvbnRlbnRUeXBlIjoiJGl0ZW0xX2MiLCJsaW5lQ291bnQiOiI0Iiwid29yZENvdW50IjoiMjgifSwidGFnIjoiJGl0ZW0xX2MifQ==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S4u+imgee7hOS7tuS7i+e7jVxuIyMjIFdvcmTvvIjmloflrZflpITnkIbvvIlcbueUqOS6juWIm+W7uuWSjOe8lui+keS4k+S4muaWh+aho++8jOaUr+aMgeWkjeadguaOkueJiOOAgeWbvuaWh+a3t+aOkuOAgeihqOagvOaPkuWFpeWPiuaWh+aho+WuoemYheWKn+iDve+8jOmAgueUqOS6juaKpeWRiuOAgeWQiOWQjOetieaWh+acrOWvhumbhuWei+W3peS9nOOAglxuIyMjIEV4Y2Vs77yI55S15a2Q6KGo5qC877yJXG7mj5DkvpvmlbDmja7orqHnrpfjgIHliIbmnpDlkozlj6/op4bljJblt6XlhbfvvIzlhoXnva7lh73mlbDjgIHmlbDmja7pgI/op4booajlkozlm77ooajlip/og73vvIzpgILnlKjkuo7otKLliqHnu5/orqHjgIHpobnnm67nrqHnkIbnrYnmlbDmja7lpITnkIblnLrmma/jgIJcbiMjIyBQb3dlclBvaW5077yI5ryU56S65paH56i/77yJXG7kuJPkuLrlubvnga/niYforr7orqHlvIDlj5HvvIzmlK/mjIHliqjnlLvmlYjmnpzjgIHlpJrlqpLkvZPltYzlhaXlkozov5znqIvmvJTnpLrvvIzlub/ms5vnlKjkuo7kvJrorq7msYfmiqXjgIHmlZnlrabor77ku7bnrYnlsZXnpLrpnIDmsYLjgIIiLCJ0cGxpZCI6IjEzNyIsInRwbE5hbWUiOiJsaXN0M18yMDI1MDYyNjA5IiwiZWRpdGVkIjoiZmFsc2UifQ==</bd:templateData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56100" y="2971800"/>
            <a:ext cx="3554730" cy="33909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300">
                <a:solidFill>
                  <a:schemeClr val="lt1">
                    <a:alpha val="0"/>
                  </a:schemeClr>
                </a:solidFill>
                <a:latin typeface="Noto Sans SC"/>
                <a:ea typeface="Noto Sans SC"/>
                <a:cs typeface="Noto Sans SC"/>
              </a:rPr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pPr algn="l">
              <a:lnSpc>
                <a:spcPct val="80000"/>
              </a:lnSpc>
            </a:pPr>
            <a:r>
              <a:rPr lang="en-US" sz="600">
                <a:solidFill>
                  <a:schemeClr val="lt1">
                    <a:alpha val="0"/>
                  </a:schemeClr>
                </a:solidFill>
                <a:latin typeface="Noto Sans SC"/>
                <a:ea typeface="Noto Sans SC"/>
                <a:cs typeface="Noto Sans SC"/>
              </a:rPr>
              <a:t>ibaotu.com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Freeform 3"/>
          <p:cNvSpPr/>
          <p:nvPr/>
        </p:nvSpPr>
        <p:spPr>
          <a:xfrm>
            <a:off x="7431214" y="3452908"/>
            <a:ext cx="359093" cy="900589"/>
          </a:xfrm>
          <a:custGeom>
            <a:avLst/>
            <a:gdLst/>
            <a:ahLst/>
            <a:cxnLst/>
            <a:rect l="l" t="t" r="r" b="b"/>
            <a:pathLst>
              <a:path w="224" h="563">
                <a:moveTo>
                  <a:pt x="0" y="346"/>
                </a:moveTo>
                <a:cubicBezTo>
                  <a:pt x="73" y="563"/>
                  <a:pt x="73" y="563"/>
                  <a:pt x="73" y="563"/>
                </a:cubicBezTo>
                <a:cubicBezTo>
                  <a:pt x="224" y="391"/>
                  <a:pt x="224" y="391"/>
                  <a:pt x="224" y="391"/>
                </a:cubicBezTo>
                <a:cubicBezTo>
                  <a:pt x="149" y="376"/>
                  <a:pt x="149" y="376"/>
                  <a:pt x="149" y="376"/>
                </a:cubicBezTo>
                <a:cubicBezTo>
                  <a:pt x="160" y="250"/>
                  <a:pt x="146" y="121"/>
                  <a:pt x="108" y="0"/>
                </a:cubicBezTo>
                <a:cubicBezTo>
                  <a:pt x="35" y="24"/>
                  <a:pt x="35" y="24"/>
                  <a:pt x="35" y="24"/>
                </a:cubicBezTo>
                <a:cubicBezTo>
                  <a:pt x="69" y="132"/>
                  <a:pt x="82" y="247"/>
                  <a:pt x="73" y="361"/>
                </a:cubicBezTo>
                <a:lnTo>
                  <a:pt x="0" y="346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Freeform 4"/>
          <p:cNvSpPr/>
          <p:nvPr/>
        </p:nvSpPr>
        <p:spPr>
          <a:xfrm>
            <a:off x="5712238" y="2275522"/>
            <a:ext cx="902113" cy="359093"/>
          </a:xfrm>
          <a:custGeom>
            <a:avLst/>
            <a:gdLst/>
            <a:ahLst/>
            <a:cxnLst/>
            <a:rect l="l" t="t" r="r" b="b"/>
            <a:pathLst>
              <a:path w="563" h="224">
                <a:moveTo>
                  <a:pt x="361" y="151"/>
                </a:moveTo>
                <a:cubicBezTo>
                  <a:pt x="346" y="224"/>
                  <a:pt x="346" y="224"/>
                  <a:pt x="346" y="224"/>
                </a:cubicBezTo>
                <a:cubicBezTo>
                  <a:pt x="563" y="151"/>
                  <a:pt x="563" y="151"/>
                  <a:pt x="563" y="151"/>
                </a:cubicBezTo>
                <a:cubicBezTo>
                  <a:pt x="391" y="0"/>
                  <a:pt x="391" y="0"/>
                  <a:pt x="391" y="0"/>
                </a:cubicBezTo>
                <a:cubicBezTo>
                  <a:pt x="376" y="75"/>
                  <a:pt x="376" y="75"/>
                  <a:pt x="376" y="75"/>
                </a:cubicBezTo>
                <a:cubicBezTo>
                  <a:pt x="250" y="64"/>
                  <a:pt x="121" y="78"/>
                  <a:pt x="0" y="116"/>
                </a:cubicBezTo>
                <a:cubicBezTo>
                  <a:pt x="23" y="189"/>
                  <a:pt x="23" y="189"/>
                  <a:pt x="23" y="189"/>
                </a:cubicBezTo>
                <a:cubicBezTo>
                  <a:pt x="131" y="155"/>
                  <a:pt x="247" y="142"/>
                  <a:pt x="361" y="151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Freeform 5"/>
          <p:cNvSpPr/>
          <p:nvPr/>
        </p:nvSpPr>
        <p:spPr>
          <a:xfrm>
            <a:off x="4419600" y="3452908"/>
            <a:ext cx="359093" cy="900589"/>
          </a:xfrm>
          <a:custGeom>
            <a:avLst/>
            <a:gdLst/>
            <a:ahLst/>
            <a:cxnLst/>
            <a:rect l="l" t="t" r="r" b="b"/>
            <a:pathLst>
              <a:path w="224" h="563">
                <a:moveTo>
                  <a:pt x="116" y="563"/>
                </a:moveTo>
                <a:cubicBezTo>
                  <a:pt x="189" y="540"/>
                  <a:pt x="189" y="540"/>
                  <a:pt x="189" y="540"/>
                </a:cubicBezTo>
                <a:cubicBezTo>
                  <a:pt x="155" y="432"/>
                  <a:pt x="142" y="316"/>
                  <a:pt x="151" y="202"/>
                </a:cubicBezTo>
                <a:cubicBezTo>
                  <a:pt x="224" y="217"/>
                  <a:pt x="224" y="217"/>
                  <a:pt x="224" y="217"/>
                </a:cubicBezTo>
                <a:cubicBezTo>
                  <a:pt x="151" y="0"/>
                  <a:pt x="151" y="0"/>
                  <a:pt x="151" y="0"/>
                </a:cubicBezTo>
                <a:cubicBezTo>
                  <a:pt x="0" y="172"/>
                  <a:pt x="0" y="172"/>
                  <a:pt x="0" y="172"/>
                </a:cubicBezTo>
                <a:cubicBezTo>
                  <a:pt x="75" y="187"/>
                  <a:pt x="75" y="187"/>
                  <a:pt x="75" y="187"/>
                </a:cubicBezTo>
                <a:cubicBezTo>
                  <a:pt x="64" y="313"/>
                  <a:pt x="78" y="442"/>
                  <a:pt x="116" y="563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Freeform 6"/>
          <p:cNvSpPr/>
          <p:nvPr/>
        </p:nvSpPr>
        <p:spPr>
          <a:xfrm>
            <a:off x="5712238" y="5287137"/>
            <a:ext cx="902113" cy="359093"/>
          </a:xfrm>
          <a:custGeom>
            <a:avLst/>
            <a:gdLst/>
            <a:ahLst/>
            <a:cxnLst/>
            <a:rect l="l" t="t" r="r" b="b"/>
            <a:pathLst>
              <a:path w="563" h="224">
                <a:moveTo>
                  <a:pt x="202" y="73"/>
                </a:moveTo>
                <a:cubicBezTo>
                  <a:pt x="217" y="0"/>
                  <a:pt x="217" y="0"/>
                  <a:pt x="217" y="0"/>
                </a:cubicBezTo>
                <a:cubicBezTo>
                  <a:pt x="0" y="73"/>
                  <a:pt x="0" y="73"/>
                  <a:pt x="0" y="73"/>
                </a:cubicBezTo>
                <a:cubicBezTo>
                  <a:pt x="172" y="224"/>
                  <a:pt x="172" y="224"/>
                  <a:pt x="172" y="224"/>
                </a:cubicBezTo>
                <a:cubicBezTo>
                  <a:pt x="187" y="149"/>
                  <a:pt x="187" y="149"/>
                  <a:pt x="187" y="149"/>
                </a:cubicBezTo>
                <a:cubicBezTo>
                  <a:pt x="216" y="151"/>
                  <a:pt x="244" y="153"/>
                  <a:pt x="273" y="153"/>
                </a:cubicBezTo>
                <a:cubicBezTo>
                  <a:pt x="371" y="153"/>
                  <a:pt x="470" y="138"/>
                  <a:pt x="563" y="108"/>
                </a:cubicBezTo>
                <a:cubicBezTo>
                  <a:pt x="540" y="35"/>
                  <a:pt x="540" y="35"/>
                  <a:pt x="540" y="35"/>
                </a:cubicBezTo>
                <a:cubicBezTo>
                  <a:pt x="431" y="69"/>
                  <a:pt x="316" y="82"/>
                  <a:pt x="202" y="73"/>
                </a:cubicBez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19600" y="2178463"/>
            <a:ext cx="1552575" cy="1552575"/>
          </a:xfrm>
          <a:prstGeom prst="diamond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8255" y="2195513"/>
            <a:ext cx="1552575" cy="1552575"/>
          </a:xfrm>
          <a:prstGeom prst="diamond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22125" r="22125"/>
          <a:stretch>
            <a:fillRect/>
          </a:stretch>
        </p:blipFill>
        <p:spPr>
          <a:xfrm>
            <a:off x="6358255" y="4088892"/>
            <a:ext cx="1552575" cy="1552575"/>
          </a:xfrm>
          <a:prstGeom prst="diamond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419600" y="4088892"/>
            <a:ext cx="1552575" cy="1552575"/>
          </a:xfrm>
          <a:prstGeom prst="diamond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eyJfdGVtcGxhdGVEYXRhIjp7ImNvbnRlbnRUeXBlIjoiJGltZzMifSwidGFnIjoiJGltZzMifQ==</bd:templateData>
          </p:ext>
        </p:extLst>
      </p:pic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界面基本操作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741006" y="1512641"/>
            <a:ext cx="3354747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功能区导航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eyJfdGVtcGxhdGVEYXRhIjp7ImNvbnRlbnRUeXBlIjoiJGl0ZW0xX3RpdGxlIiwibGluZUNvdW50IjoiMSIsIndvcmRDb3VudCI6IjExIn0sInRhZyI6IiRpdGVtMV90aXRsZSJ9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675630" y="1987544"/>
            <a:ext cx="3420122" cy="146547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通过顶部选项卡（如“开始”“插入”）切换专项面板，按Ctrl+F1可折叠/展开功能区以优化编辑空间。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eyJfdGVtcGxhdGVEYXRhIjp7ImNvbnRlbnRUeXBlIjoiJGl0ZW0xX2MiLCJsaW5lQ291bnQiOiI0Iiwid29yZENvdW50IjoiMTYifSwidGFnIjoiJGl0ZW0xX2MifQ==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675630" y="4007084"/>
            <a:ext cx="3420122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键盘快捷键组合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eyJfdGVtcGxhdGVEYXRhIjp7ImNvbnRlbnRUeXBlIjoiJGl0ZW00X3RpdGxlIiwibGluZUNvdW50IjoiMSIsIndvcmRDb3VudCI6IjExIn0sInRhZyI6IiRpdGVtNF90aXRsZSJ9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675630" y="4481987"/>
            <a:ext cx="3420122" cy="146547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例如Ctrl+C/V复制粘贴、Alt+Tab切换窗口，显著提升操作效率，减少鼠标依赖。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eyJfdGVtcGxhdGVEYXRhIjp7ImNvbnRlbnRUeXBlIjoiJGl0ZW00X2MiLCJsaW5lQ291bnQiOiI0Iiwid29yZENvdW50IjoiMTYifSwidGFnIjoiJGl0ZW00X2MifQ==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8193436" y="1510590"/>
            <a:ext cx="315514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快捷访问工具栏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8193436" y="1985493"/>
            <a:ext cx="3381361" cy="146547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可自定义常用命令（如保存、撤销），支持右键添加或通过“文件&gt;选项”进行个性化配置。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eyJfdGVtcGxhdGVEYXRhIjp7ImNvbnRlbnRUeXBlIjoiJGl0ZW0yX2MiLCJsaW5lQ291bnQiOiI0Iiwid29yZENvdW50IjoiMTYifSwidGFnIjoiJGl0ZW0yX2MifQ==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8193436" y="4005034"/>
            <a:ext cx="3295866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右键上下文菜单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eyJfdGVtcGxhdGVEYXRhIjp7ImNvbnRlbnRUeXBlIjoiJGl0ZW0zX3RpdGxlIiwibGluZUNvdW50IjoiMSIsIndvcmRDb3VudCI6IjExIn0sInRhZyI6IiRpdGVtM190aXRsZSJ9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8193436" y="4479937"/>
            <a:ext cx="3381361" cy="146547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针对选定对象（文本、图片等）自动弹出相关操作选项，如格式设置、超链接添加等。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eyJfdGVtcGxhdGVEYXRhIjp7ImNvbnRlbnRUeXBlIjoiJGl0ZW0zX2MiLCJsaW5lQ291bnQiOiI0Iiwid29yZENvdW50IjoiMTYifSwidGFnIjoiJGl0ZW0zX2MifQ==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VjOmdouWfuuacrOaTjeS9nFxuIyMjIOWKn+iDveWMuuWvvOiIqlxu6YCa6L+H6aG26YOo6YCJ6aG55Y2h77yI5aaC4oCc5byA5aeL4oCd4oCc5o+S5YWl4oCd77yJ5YiH5o2i5LiT6aG56Z2i5p2/77yM5oyJQ3RybCtGMeWPr+aKmOWPoC/lsZXlvIDlip/og73ljLrku6XkvJjljJbnvJbovpHnqbrpl7TjgIJcbiMjIyDlv6vmjbforr/pl67lt6XlhbfmoI9cbuWPr+iHquWumuS5ieW4uOeUqOWRveS7pO+8iOWmguS/neWtmOOAgeaSpOmUgO+8ie+8jOaUr+aMgeWPs+mUrua3u+WKoOaIlumAmui/h+KAnOaWh+S7tj7pgInpobnigJ3ov5vooYzkuKrmgKfljJbphY3nva7jgIJcbiMjIyDlj7PplK7kuIrkuIvmlofoj5zljZVcbumSiOWvuemAieWumuWvueixoe+8iOaWh+acrOOAgeWbvueJh+etie+8ieiHquWKqOW8ueWHuuebuOWFs+aTjeS9nOmAiemhue+8jOWmguagvOW8j+iuvue9ruOAgei2hemTvuaOpea3u+WKoOetieOAglxuIyMjIOmUruebmOW/q+aNt+mUrue7hOWQiFxu5L6L5aaCQ3RybCtDL1blpI3liLbnspjotLTjgIFBbHQrVGFi5YiH5o2i56qX5Y+j77yM5pi+6JGX5o+Q5Y2H5pON5L2c5pWI546H77yM5YeP5bCR6byg5qCH5L6d6LWW44CCIiwidHBsaWQiOiIxMzciLCJ0cGxOYW1lIjoibGlzdDRfV0xMMjQwMzI3MTAiLCJlZGl0ZWQiOiJmYWxzZSJ9</bd:templateData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5802" r="15802"/>
          <a:stretch>
            <a:fillRect/>
          </a:stretch>
        </p:blipFill>
        <p:spPr>
          <a:xfrm>
            <a:off x="8449231" y="3565204"/>
            <a:ext cx="3050440" cy="2453000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3" name="AutoShape 3"/>
          <p:cNvSpPr/>
          <p:nvPr/>
        </p:nvSpPr>
        <p:spPr>
          <a:xfrm>
            <a:off x="8449231" y="1792951"/>
            <a:ext cx="3050857" cy="2406213"/>
          </a:xfrm>
          <a:prstGeom prst="roundRect">
            <a:avLst>
              <a:gd name="adj" fmla="val 10215"/>
            </a:avLst>
          </a:prstGeom>
          <a:solidFill>
            <a:srgbClr val="FFFFFF">
              <a:alpha val="100000"/>
            </a:srgbClr>
          </a:solidFill>
          <a:ln/>
          <a:effectLst>
            <a:outerShdw blurRad="457200">
              <a:srgbClr val="000000">
                <a:alpha val="8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8952" r="8952"/>
          <a:stretch>
            <a:fillRect/>
          </a:stretch>
        </p:blipFill>
        <p:spPr>
          <a:xfrm>
            <a:off x="4549001" y="3532049"/>
            <a:ext cx="3050440" cy="2476500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>
            <a:off x="4549001" y="1728950"/>
            <a:ext cx="3050857" cy="2406213"/>
          </a:xfrm>
          <a:prstGeom prst="roundRect">
            <a:avLst>
              <a:gd name="adj" fmla="val 10215"/>
            </a:avLst>
          </a:prstGeom>
          <a:solidFill>
            <a:srgbClr val="FFFFFF">
              <a:alpha val="100000"/>
            </a:srgbClr>
          </a:solidFill>
          <a:ln/>
          <a:effectLst>
            <a:outerShdw blurRad="457200">
              <a:srgbClr val="000000">
                <a:alpha val="8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 t="884" b="884"/>
          <a:stretch>
            <a:fillRect/>
          </a:stretch>
        </p:blipFill>
        <p:spPr>
          <a:xfrm>
            <a:off x="644987" y="3751513"/>
            <a:ext cx="3050440" cy="2247381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7" name="AutoShape 7"/>
          <p:cNvSpPr/>
          <p:nvPr/>
        </p:nvSpPr>
        <p:spPr>
          <a:xfrm>
            <a:off x="644570" y="1728950"/>
            <a:ext cx="3050857" cy="2406213"/>
          </a:xfrm>
          <a:prstGeom prst="roundRect">
            <a:avLst>
              <a:gd name="adj" fmla="val 10215"/>
            </a:avLst>
          </a:prstGeom>
          <a:solidFill>
            <a:srgbClr val="FFFFFF">
              <a:alpha val="100000"/>
            </a:srgbClr>
          </a:solidFill>
          <a:ln/>
          <a:effectLst>
            <a:outerShdw blurRad="457200">
              <a:srgbClr val="000000">
                <a:alpha val="8000"/>
              </a:srgbClr>
            </a:outerShdw>
          </a:effectLst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文件管理功能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67253" y="2445849"/>
            <a:ext cx="2819400" cy="160510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通过OneDrive或SharePoint实现多用户实时协作，自动保存版本历史并支持更改追踪。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eyJfdGVtcGxhdGVEYXRhIjp7ImNvbnRlbnRUeXBlIjoiJGl0ZW0xX2MiLCJsaW5lQ291bnQiOiI0Iiwid29yZENvdW50IjoiMTIifSwidGFnIjoiJGl0ZW0xX2MifQ==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651733" y="1856763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云端协同编辑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4667483" y="2445849"/>
            <a:ext cx="2819400" cy="160510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内置业务报告、预算表等专业模板，支持从“新建”页面快速套用或自定义保存常用模板。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eyJfdGVtcGxhdGVEYXRhIjp7ImNvbnRlbnRUeXBlIjoiJGl0ZW0yX2MiLCJsaW5lQ291bnQiOiI0Iiwid29yZENvdW50IjoiMTIifSwidGFnIjoiJGl0ZW0yX2MifQ==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551963" y="1856763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模板库调用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8564751" y="2445849"/>
            <a:ext cx="2819400" cy="160510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rgbClr val="000000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可将文档转换为PDF、XPS等格式，或导出为网页（HTML），确保跨平台兼容性。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eyJfdGVtcGxhdGVEYXRhIjp7ImNvbnRlbnRUeXBlIjoiJGl0ZW0zX2MiLCJsaW5lQ291bnQiOiI0Iiwid29yZENvdW50IjoiMTIifSwidGFnIjoiJGl0ZW0zX2MifQ==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8449231" y="1856763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格式转换与导出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Wh+S7tueuoeeQhuWKn+iDvVxuIyMjIOS6keerr+WNj+WQjOe8lui+kVxu6YCa6L+HT25lRHJpdmXmiJZTaGFyZVBvaW505a6e546w5aSa55So5oi35a6e5pe25Y2P5L2c77yM6Ieq5Yqo5L+d5a2Y54mI5pys5Y6G5Y+y5bm25pSv5oyB5pu05pS56L+96Liq44CCXG4jIyMg5qih5p2/5bqT6LCD55SoXG7lhoXnva7kuJrliqHmiqXlkYrjgIHpooTnrpfooajnrYnkuJPkuJrmqKHmnb/vvIzmlK/mjIHku47igJzmlrDlu7rigJ3pobXpnaLlv6vpgJ/lpZfnlKjmiJboh6rlrprkuYnkv53lrZjluLjnlKjmqKHmnb/jgIJcbiMjIyDmoLzlvI/ovazmjaLkuI7lr7zlh7pcbuWPr+WwhuaWh+aho+i9rOaNouS4ulBERuOAgVhQU+etieagvOW8j++8jOaIluWvvOWHuuS4uue9kemhte+8iEhUTUzvvInvvIznoa7kv53ot6jlubPlj7DlhbzlrrnmgKfjgIIiLCJ0cGxpZCI6IjEzNyIsInRwbE5hbWUiOiJsaXN0M19JbWd3enkyNDA3MDkwMDMiLCJlZGl0ZWQiOiJmYWxzZSJ9</bd:templateData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169" y="2514394"/>
            <a:ext cx="6164285" cy="175221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Word文档处理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673160" y="1704797"/>
            <a:ext cx="1868805" cy="7581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</a:rPr>
              <a:t>PART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544494" y="1514414"/>
            <a:ext cx="971706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eyJtZCI6IiMjIFdvcmTmlofmoaPlpITnkIYiLCJ0cGxpZCI6IjEzNyIsInRwbE5hbWUiOiJoMnRpdGxlXzEzN2thaXh1ZSIsImVkaXRlZCI6ImZhbHNlIn0=</bd:templateData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554046">
            <a:off x="8870490" y="1599332"/>
            <a:ext cx="1035702" cy="1285450"/>
          </a:xfrm>
          <a:prstGeom prst="roundRect">
            <a:avLst>
              <a:gd name="adj" fmla="val 16667"/>
            </a:avLst>
          </a:prstGeom>
          <a:solidFill>
            <a:schemeClr val="accent5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  <a:endParaRPr lang="en-US" sz="1100"/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endParaRPr lang="en-US" sz="1100"/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eyJfdGVtcGxhdGVEYXRhIjp7ImxpbmVDb3VudCI6IjIiLCJ3b3JkQ291bnQiOiIyIn0sInRhZyI6Im5vRWRpdCJ9</bd:templateData>
          </p:ext>
        </p:extLst>
      </p:sp>
      <p:sp>
        <p:nvSpPr>
          <p:cNvPr id="3" name="AutoShape 3"/>
          <p:cNvSpPr/>
          <p:nvPr/>
        </p:nvSpPr>
        <p:spPr>
          <a:xfrm rot="1554046">
            <a:off x="5559153" y="1599332"/>
            <a:ext cx="1035702" cy="1285450"/>
          </a:xfrm>
          <a:prstGeom prst="roundRect">
            <a:avLst>
              <a:gd name="adj" fmla="val 16667"/>
            </a:avLst>
          </a:prstGeom>
          <a:solidFill>
            <a:schemeClr val="accent4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  <a:endParaRPr lang="en-US" sz="1100"/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endParaRPr lang="en-US" sz="1100"/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eyJfdGVtcGxhdGVEYXRhIjp7ImxpbmVDb3VudCI6IjIiLCJ3b3JkQ291bnQiOiIyIn0sInRhZyI6Im5vRWRpdCJ9</bd:templateData>
          </p:ext>
        </p:extLst>
      </p:sp>
      <p:sp>
        <p:nvSpPr>
          <p:cNvPr id="4" name="AutoShape 4"/>
          <p:cNvSpPr/>
          <p:nvPr/>
        </p:nvSpPr>
        <p:spPr>
          <a:xfrm rot="1554046">
            <a:off x="2227472" y="1599332"/>
            <a:ext cx="1035702" cy="1285450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0"/>
            </a:schemeClr>
          </a:solidFill>
          <a:ln/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r>
              <a:rPr lang="en-US" sz="27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  <a:endParaRPr lang="en-US" sz="1100"/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endParaRPr lang="en-US" sz="1100"/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eyJfdGVtcGxhdGVEYXRhIjp7ImxpbmVDb3VudCI6IjIiLCJ3b3JkQ291bnQiOiIyIn0sInRhZyI6Im5vRWRpdCJ9</bd:templateData>
          </p:ext>
        </p:extLst>
      </p:sp>
      <p:sp>
        <p:nvSpPr>
          <p:cNvPr id="5" name="AutoShape 5"/>
          <p:cNvSpPr/>
          <p:nvPr/>
        </p:nvSpPr>
        <p:spPr>
          <a:xfrm>
            <a:off x="777693" y="2395393"/>
            <a:ext cx="10511844" cy="3248940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文档格式设置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1211558" y="3328703"/>
            <a:ext cx="3067530" cy="193077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通过"开始"选项卡中的字体下拉菜单可切换宋体、黑体等字体类型，字号支持直接输入数值（如12.5磅）。段落对齐包含左/右/居中/两端对齐四种模式，快捷键Ctrl+L/E/R/J可快速切换对齐方式。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eyJfdGVtcGxhdGVEYXRhIjp7ImNvbnRlbnRUeXBlIjoiJGl0ZW0xX2MiLCJsaW5lQ291bnQiOiI3Iiwid29yZENvdW50IjoiMTcifSwidGFnIjoiJGl0ZW0xX2MifQ==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1260998" y="2838528"/>
            <a:ext cx="2968650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字体与段落调整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eyJfdGVtcGxhdGVEYXRhIjp7ImNvbnRlbnRUeXBlIjoiJGl0ZW0xX3RpdGxlIiwibGluZUNvdW50IjoiMSIsIndvcmRDb3VudCI6IjExIn0sInRhZyI6IiRpdGVtMV90aXRsZSJ9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4543238" y="3325072"/>
            <a:ext cx="3067530" cy="193077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内置"标题1""正文"等样式库可一键统一全文格式，右键样式可修改字体、段落属性并设为默认值。通过"定义新的多级列表"可关联列表级别与标题样式，实现章节自动编号。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eyJfdGVtcGxhdGVEYXRhIjp7ImNvbnRlbnRUeXBlIjoiJGl0ZW0yX2MiLCJsaW5lQ291bnQiOiI3Iiwid29yZENvdW50IjoiMTcifSwidGFnIjoiJGl0ZW0yX2MifQ==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592679" y="2834897"/>
            <a:ext cx="2968650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样式批量管理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eyJfdGVtcGxhdGVEYXRhIjp7ImNvbnRlbnRUeXBlIjoiJGl0ZW0yX3RpdGxlIiwibGluZUNvdW50IjoiMSIsIndvcmRDb3VudCI6IjExIn0sInRhZyI6IiRpdGVtMl90aXRsZSJ9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7854576" y="3312563"/>
            <a:ext cx="3067530" cy="193077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在"段落"对话框中可设置单倍/1.5倍/自定义行距（如18磅），段前/段后间距能有效分隔内容层次。"首行缩进"实现段落首行空两格，"悬挂缩进"则适用于项目符号的子项排版。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eyJfdGVtcGxhdGVEYXRhIjp7ImNvbnRlbnRUeXBlIjoiJGl0ZW0zX2MiLCJsaW5lQ291bnQiOiI3Iiwid29yZENvdW50IjoiMTcifSwidGFnIjoiJGl0ZW0zX2MifQ==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7904016" y="2822388"/>
            <a:ext cx="2968650" cy="56039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5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间距精细控制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eyJfdGVtcGxhdGVEYXRhIjp7ImNvbnRlbnRUeXBlIjoiJGl0ZW0zX3RpdGxlIiwibGluZUNvdW50IjoiMSIsIndvcmRDb3VudCI6IjExIn0sInRhZyI6IiRpdGVtM190aXRsZSJ9</bd:templateData>
          </p:ext>
        </p:extLst>
      </p:sp>
      <p:cxnSp>
        <p:nvCxnSpPr>
          <p:cNvPr id="13" name="Connector 13"/>
          <p:cNvCxnSpPr/>
          <p:nvPr/>
        </p:nvCxnSpPr>
        <p:spPr>
          <a:xfrm>
            <a:off x="816742" y="2395393"/>
            <a:ext cx="10472796" cy="0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cxn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Wh+aho+agvOW8j+iuvue9rlxuIyMjIOWtl+S9k+S4juauteiQveiwg+aVtFxu6YCa6L+HXCLlvIDlp4tcIumAiemhueWNoeS4reeahOWtl+S9k+S4i+aLieiPnOWNleWPr+WIh+aNouWui+S9k+OAgem7keS9k+etieWtl+S9k+exu+Wei++8jOWtl+WPt+aUr+aMgeebtOaOpei+k+WFpeaVsOWAvO+8iOWmgjEyLjXno4XvvInjgILmrrXokL3lr7npvZDljIXlkKvlt6Yv5Y+zL+WxheS4rS/kuKTnq6/lr7npvZDlm5vnp43mqKHlvI/vvIzlv6vmjbfplK5DdHJsK0wvRS9SL0rlj6/lv6vpgJ/liIfmjaLlr7npvZDmlrnlvI/jgIJcbiMjIyDmoLflvI/mibnph4/nrqHnkIZcbuWGhee9rlwi5qCH6aKYMVwiXCLmraPmlodcIuetieagt+W8j+W6k+WPr+S4gOmUrue7n+S4gOWFqOaWh+agvOW8j++8jOWPs+mUruagt+W8j+WPr+S/ruaUueWtl+S9k+OAgeauteiQveWxnuaAp+W5tuiuvuS4uum7mOiupOWAvOOAgumAmui/h1wi5a6a5LmJ5paw55qE5aSa57qn5YiX6KGoXCLlj6/lhbPogZTliJfooajnuqfliKvkuI7moIfpopjmoLflvI/vvIzlrp7njrDnq6DoioLoh6rliqjnvJblj7fjgIJcbiMjIyDpl7Tot53nsr7nu4bmjqfliLZcbuWcqFwi5q616JC9XCLlr7nor53moYbkuK3lj6/orr7nva7ljZXlgI0vMS415YCNL+iHquWumuS5ieihjOi3ne+8iOWmgjE456OF77yJ77yM5q615YmNL+auteWQjumXtOi3neiDveacieaViOWIhumalOWGheWuueWxguasoeOAglwi6aaW6KGM57yp6L+bXCLlrp7njrDmrrXokL3pppbooYznqbrkuKTmoLzvvIxcIuaCrOaMgue8qei/m1wi5YiZ6YCC55So5LqO6aG555uu56ym5Y+355qE5a2Q6aG55o6S54mI44CCIiwidHBsaWQiOiIxMzciLCJ0cGxOYW1lIjoibGlzdDNfMjAyNTA3MDMxNSIsImVkaXRlZCI6ImZhbHNlIn0=</bd:templateData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8633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578633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图文混排技巧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5" name="AutoShape 5"/>
          <p:cNvSpPr/>
          <p:nvPr/>
        </p:nvSpPr>
        <p:spPr>
          <a:xfrm>
            <a:off x="6698935" y="1489452"/>
            <a:ext cx="2914650" cy="29146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9780389" y="1489452"/>
            <a:ext cx="1714500" cy="2914650"/>
          </a:xfrm>
          <a:prstGeom prst="rect">
            <a:avLst/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6698935" y="4585077"/>
            <a:ext cx="2914650" cy="1619250"/>
          </a:xfrm>
          <a:prstGeom prst="rect">
            <a:avLst/>
          </a:prstGeom>
          <a:solidFill>
            <a:schemeClr val="accent4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9780389" y="4585077"/>
            <a:ext cx="1714500" cy="1619250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/>
          </a:blip>
          <a:srcRect l="16667" r="16667"/>
          <a:stretch>
            <a:fillRect/>
          </a:stretch>
        </p:blipFill>
        <p:spPr>
          <a:xfrm>
            <a:off x="6784660" y="1575177"/>
            <a:ext cx="274320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6784660" y="4670802"/>
            <a:ext cx="2743200" cy="14478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 l="21875" r="21875"/>
          <a:stretch>
            <a:fillRect/>
          </a:stretch>
        </p:blipFill>
        <p:spPr>
          <a:xfrm>
            <a:off x="9866114" y="1575177"/>
            <a:ext cx="1543050" cy="27432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2" name="AutoShape 12"/>
          <p:cNvSpPr/>
          <p:nvPr/>
        </p:nvSpPr>
        <p:spPr>
          <a:xfrm>
            <a:off x="9866114" y="4670802"/>
            <a:ext cx="1543050" cy="1447800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Freeform 13"/>
          <p:cNvSpPr/>
          <p:nvPr/>
        </p:nvSpPr>
        <p:spPr>
          <a:xfrm>
            <a:off x="10232888" y="5037575"/>
            <a:ext cx="809504" cy="80950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</a:path>
            </a:pathLst>
          </a:cu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1382164" y="1579985"/>
            <a:ext cx="2088193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环绕方式选择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15" name="AutoShape 15"/>
          <p:cNvSpPr/>
          <p:nvPr/>
        </p:nvSpPr>
        <p:spPr>
          <a:xfrm rot="5400000">
            <a:off x="667791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756538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通过"布局选项"可选择嵌入型（图片作为字符流动）、四周型（文本环绕图片边界）、紧密型（文本贴合图片边缘）等6种环绕方式，不规则图片建议使用穿越型实现创意排版。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eyJfdGVtcGxhdGVEYXRhIjp7ImNvbnRlbnRUeXBlIjoiJGl0ZW0xX2MiLCJsaW5lQ291bnQiOiI2Iiwid29yZENvdW50IjoiMTQifSwidGFnIjoiJGl0ZW0xX2MifQ==</bd:templateData>
          </p:ext>
        </p:extLst>
      </p:sp>
      <p:sp>
        <p:nvSpPr>
          <p:cNvPr id="17" name="AutoShape 17"/>
          <p:cNvSpPr/>
          <p:nvPr/>
        </p:nvSpPr>
        <p:spPr>
          <a:xfrm rot="5400000">
            <a:off x="658476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97683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9" name="AutoShape 19"/>
          <p:cNvSpPr/>
          <p:nvPr/>
        </p:nvSpPr>
        <p:spPr>
          <a:xfrm>
            <a:off x="3628068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4431599" y="157998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图片精确定位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21" name="AutoShape 21"/>
          <p:cNvSpPr/>
          <p:nvPr/>
        </p:nvSpPr>
        <p:spPr>
          <a:xfrm rot="5400000">
            <a:off x="3717225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2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3805973" y="213757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在"图片格式→排列→位置"中可预设图片位置，或通过"其他布局选项"自定义距页边距距离。多图排版时按住Ctrl选中图片，使用"对齐与分布"功能保持页面整齐。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eyJfdGVtcGxhdGVEYXRhIjp7ImNvbnRlbnRUeXBlIjoiJGl0ZW0yX2MiLCJsaW5lQ291bnQiOiI2Iiwid29yZENvdW50IjoiMTQifSwidGFnIjoiJGl0ZW0yX2MifQ==</bd:templateData>
          </p:ext>
        </p:extLst>
      </p:sp>
      <p:sp>
        <p:nvSpPr>
          <p:cNvPr id="23" name="AutoShape 23"/>
          <p:cNvSpPr/>
          <p:nvPr/>
        </p:nvSpPr>
        <p:spPr>
          <a:xfrm rot="5400000">
            <a:off x="3707910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4" name="TextBox 24"/>
          <p:cNvSpPr txBox="1"/>
          <p:nvPr/>
        </p:nvSpPr>
        <p:spPr>
          <a:xfrm>
            <a:off x="1382164" y="402489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图文层级控制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25" name="AutoShape 25"/>
          <p:cNvSpPr/>
          <p:nvPr/>
        </p:nvSpPr>
        <p:spPr>
          <a:xfrm rot="5400000">
            <a:off x="667791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3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6" name="TextBox 26"/>
          <p:cNvSpPr txBox="1"/>
          <p:nvPr/>
        </p:nvSpPr>
        <p:spPr>
          <a:xfrm>
            <a:off x="756538" y="458248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设置"衬于文字下方"可将图片转为背景，配合透明度调整实现水印效果；"浮于文字上方"则适合添加标注图形。通过"选择窗格"可管理多层对象的显示顺序。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eyJfdGVtcGxhdGVEYXRhIjp7ImNvbnRlbnRUeXBlIjoiJGl0ZW0zX2MiLCJsaW5lQ291bnQiOiI2Iiwid29yZENvdW50IjoiMTQifSwidGFnIjoiJGl0ZW0zX2MifQ==</bd:templateData>
          </p:ext>
        </p:extLst>
      </p:sp>
      <p:sp>
        <p:nvSpPr>
          <p:cNvPr id="27" name="AutoShape 27"/>
          <p:cNvSpPr/>
          <p:nvPr/>
        </p:nvSpPr>
        <p:spPr>
          <a:xfrm rot="5400000">
            <a:off x="658476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3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8" name="AutoShape 28"/>
          <p:cNvSpPr/>
          <p:nvPr/>
        </p:nvSpPr>
        <p:spPr>
          <a:xfrm>
            <a:off x="3628068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9" name="TextBox 29"/>
          <p:cNvSpPr txBox="1"/>
          <p:nvPr/>
        </p:nvSpPr>
        <p:spPr>
          <a:xfrm>
            <a:off x="4431599" y="4024895"/>
            <a:ext cx="2037145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599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样式快速美化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eyJfdGVtcGxhdGVEYXRhIjp7ImNvbnRlbnRUeXBlIjoiJGl0ZW00X3RpdGxlIiwibGluZUNvdW50IjoiMSIsIndvcmRDb3VudCI6IjgifSwidGFnIjoiJGl0ZW00X3RpdGxlIn0=</bd:templateData>
          </p:ext>
        </p:extLst>
      </p:sp>
      <p:sp>
        <p:nvSpPr>
          <p:cNvPr id="30" name="AutoShape 30"/>
          <p:cNvSpPr/>
          <p:nvPr/>
        </p:nvSpPr>
        <p:spPr>
          <a:xfrm rot="5400000">
            <a:off x="3717225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4">
              <a:alpha val="2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1" name="TextBox 31"/>
          <p:cNvSpPr txBox="1"/>
          <p:nvPr/>
        </p:nvSpPr>
        <p:spPr>
          <a:xfrm>
            <a:off x="3805973" y="4582488"/>
            <a:ext cx="2527745" cy="1395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just">
              <a:lnSpc>
                <a:spcPct val="114999"/>
              </a:lnSpc>
              <a:spcBef>
                <a:spcPts val="375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"图片格式"选项卡提供柔化边缘矩形、金属框架等预设样式，一键添加阴影/发光/三维旋转特效。文字环绕时可通过拖动图片边框调整点优化空白区域。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eyJfdGVtcGxhdGVEYXRhIjp7ImNvbnRlbnRUeXBlIjoiJGl0ZW00X2MiLCJsaW5lQ291bnQiOiI2Iiwid29yZENvdW50IjoiMTQifSwidGFnIjoiJGl0ZW00X2MifQ==</bd:templateData>
          </p:ext>
        </p:extLst>
      </p:sp>
      <p:sp>
        <p:nvSpPr>
          <p:cNvPr id="32" name="AutoShape 32"/>
          <p:cNvSpPr/>
          <p:nvPr/>
        </p:nvSpPr>
        <p:spPr>
          <a:xfrm rot="5400000">
            <a:off x="3707910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4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3" name="TextBox 33"/>
          <p:cNvSpPr txBox="1"/>
          <p:nvPr/>
        </p:nvSpPr>
        <p:spPr>
          <a:xfrm>
            <a:off x="3647118" y="157517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34" name="TextBox 34"/>
          <p:cNvSpPr txBox="1"/>
          <p:nvPr/>
        </p:nvSpPr>
        <p:spPr>
          <a:xfrm>
            <a:off x="597683" y="402008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35" name="TextBox 35"/>
          <p:cNvSpPr txBox="1"/>
          <p:nvPr/>
        </p:nvSpPr>
        <p:spPr>
          <a:xfrm>
            <a:off x="3647118" y="4020087"/>
            <a:ext cx="559462" cy="340994"/>
          </a:xfrm>
          <a:prstGeom prst="rect">
            <a:avLst/>
          </a:prstGeom>
          <a:ln/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vuaWh+a3t+aOkuaKgOW3p1xuIyMjIOeOr+e7leaWueW8j+mAieaLqVxu6YCa6L+HXCLluIPlsYDpgInpoblcIuWPr+mAieaLqeW1jOWFpeWei++8iOWbvueJh+S9nOS4uuWtl+espua1geWKqO+8ieOAgeWbm+WRqOWei++8iOaWh+acrOeOr+e7leWbvueJh+i+ueeVjO+8ieOAgee0p+WvhuWei++8iOaWh+acrOi0tOWQiOWbvueJh+i+uee8mO+8ieetiTbnp43njq/nu5XmlrnlvI/vvIzkuI3op4TliJnlm77niYflu7rorq7kvb/nlKjnqb/otorlnovlrp7njrDliJvmhI/mjpLniYjjgIJcbiMjIyDlm77niYfnsr7noa7lrprkvY1cbuWcqFwi5Zu+54mH5qC85byP4oaS5o6S5YiX4oaS5L2N572uXCLkuK3lj6/pooTorr7lm77niYfkvY3nva7vvIzmiJbpgJrov4dcIuWFtuS7luW4g+WxgOmAiemhuVwi6Ieq5a6a5LmJ6Led6aG16L656Led6Led56a744CC5aSa5Zu+5o6S54mI5pe25oyJ5L2PQ3RybOmAieS4reWbvueJh++8jOS9v+eUqFwi5a+56b2Q5LiO5YiG5biDXCLlip/og73kv53mjIHpobXpnaLmlbTpvZDjgIJcbiMjIyDlm77mloflsYLnuqfmjqfliLZcbuiuvue9rlwi6KGs5LqO5paH5a2X5LiL5pa5XCLlj6/lsIblm77niYfovazkuLrog4zmma/vvIzphY3lkIjpgI/mmI7luqbosIPmlbTlrp7njrDmsLTljbDmlYjmnpzvvJtcIua1ruS6juaWh+Wtl+S4iuaWuVwi5YiZ6YCC5ZCI5re75Yqg5qCH5rOo5Zu+5b2i44CC6YCa6L+HXCLpgInmi6nnqpfmoLxcIuWPr+euoeeQhuWkmuWxguWvueixoeeahOaYvuekuumhuuW6j+OAglxuIyMjIOagt+W8j+W/q+mAn+e+juWMllxuXCLlm77niYfmoLzlvI9cIumAiemhueWNoeaPkOS+m+aflOWMlui+uee8mOefqeW9ouOAgemHkeWxnuahhuaetuetiemihOiuvuagt+W8j++8jOS4gOmUrua3u+WKoOmYtOW9sS/lj5HlhYkv5LiJ57u05peL6L2s54m55pWI44CC5paH5a2X546v57uV5pe25Y+v6YCa6L+H5ouW5Yqo5Zu+54mH6L655qGG6LCD5pW054K55LyY5YyW56m655m95Yy65Z+f44CCIiwidHBsaWQiOiIxMzciLCJ0cGxOYW1lIjoibGlzdDRfMjAyNTA3MDMxOCIsImVkaXRlZCI6ImZhbHNlIn0=</bd:templateData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目录与索引创建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666708" y="1200845"/>
            <a:ext cx="10965082" cy="1676699"/>
          </a:xfrm>
          <a:prstGeom prst="rect">
            <a:avLst/>
          </a:prstGeom>
          <a:solidFill>
            <a:schemeClr val="lt2">
              <a:alpha val="37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 rot="-8100000">
            <a:off x="280801" y="1653287"/>
            <a:ext cx="771814" cy="771814"/>
          </a:xfrm>
          <a:prstGeom prst="rtTriangl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/>
          </a:blip>
          <a:srcRect t="25247" b="25247"/>
          <a:stretch>
            <a:fillRect/>
          </a:stretch>
        </p:blipFill>
        <p:spPr>
          <a:xfrm>
            <a:off x="8550029" y="1334644"/>
            <a:ext cx="2846272" cy="140910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6" name="AutoShape 6"/>
          <p:cNvSpPr/>
          <p:nvPr/>
        </p:nvSpPr>
        <p:spPr>
          <a:xfrm>
            <a:off x="668808" y="3026023"/>
            <a:ext cx="10965082" cy="1676699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 rot="2700000">
            <a:off x="11245883" y="3478465"/>
            <a:ext cx="771814" cy="771814"/>
          </a:xfrm>
          <a:prstGeom prst="rtTriangle">
            <a:avLst/>
          </a:pr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/>
          </a:blip>
          <a:srcRect l="9602" r="9602"/>
          <a:stretch>
            <a:fillRect/>
          </a:stretch>
        </p:blipFill>
        <p:spPr>
          <a:xfrm>
            <a:off x="885002" y="3159822"/>
            <a:ext cx="2846272" cy="140910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9" name="AutoShape 9"/>
          <p:cNvSpPr/>
          <p:nvPr/>
        </p:nvSpPr>
        <p:spPr>
          <a:xfrm>
            <a:off x="684216" y="4851200"/>
            <a:ext cx="10965082" cy="1676699"/>
          </a:xfrm>
          <a:prstGeom prst="rect">
            <a:avLst/>
          </a:prstGeom>
          <a:solidFill>
            <a:schemeClr val="lt2">
              <a:alpha val="3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 rot="-8100000">
            <a:off x="298309" y="5303643"/>
            <a:ext cx="771814" cy="771814"/>
          </a:xfrm>
          <a:prstGeom prst="rtTriangle">
            <a:avLst/>
          </a:pr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alphaModFix/>
          </a:blip>
          <a:srcRect t="25247" b="25247"/>
          <a:stretch>
            <a:fillRect/>
          </a:stretch>
        </p:blipFill>
        <p:spPr>
          <a:xfrm>
            <a:off x="8567537" y="4984999"/>
            <a:ext cx="2846272" cy="140910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12" name="AutoShape 12"/>
          <p:cNvSpPr/>
          <p:nvPr/>
        </p:nvSpPr>
        <p:spPr>
          <a:xfrm>
            <a:off x="1459434" y="1444542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自动化目录生成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1419388" y="1937100"/>
            <a:ext cx="6616479" cy="696746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对章节内容应用"标题1/2/3"样式后，在"引用→目录"中选择格式即可自动生成。右键目录"更新域"可同步修改内容，支持设置前导符样式和显示级别。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eyJfdGVtcGxhdGVEYXRhIjp7ImNvbnRlbnRUeXBlIjoiJGl0ZW0xX2MiLCJsaW5lQ291bnQiOiIyIiwid29yZENvdW50IjoiMzYifSwidGFnIjoiJGl0ZW0xX2MifQ==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4102224" y="3762278"/>
            <a:ext cx="6616479" cy="696746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通过"定义新的多级列表"将编号格式（如1.1）与标题样式绑定，确保目录层级结构准确。可自定义编号字体、缩进量及后续文本对齐方式。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eyJfdGVtcGxhdGVEYXRhIjp7ImNvbnRlbnRUeXBlIjoiJGl0ZW0yX2MiLCJsaW5lQ291bnQiOiIyIiwid29yZENvdW50IjoiMzYifSwidGFnIjoiJGl0ZW0yX2MifQ==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1436896" y="5587455"/>
            <a:ext cx="6616479" cy="696746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选中关键词后使用"标记索引项"（Alt+Shift+X）创建索引，支持交叉引用和页码范围设置。生成索引前需在"文件→选项→显示"中勾选隐藏文字显示标记。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eyJfdGVtcGxhdGVEYXRhIjp7ImNvbnRlbnRUeXBlIjoiJGl0ZW0zX2MiLCJsaW5lQ291bnQiOiIyIiwid29yZENvdW50IjoiMzYifSwidGFnIjoiJGl0ZW0zX2MifQ==</bd:templateData>
          </p:ext>
        </p:extLst>
      </p:sp>
      <p:sp>
        <p:nvSpPr>
          <p:cNvPr id="16" name="AutoShape 16"/>
          <p:cNvSpPr/>
          <p:nvPr/>
        </p:nvSpPr>
        <p:spPr>
          <a:xfrm>
            <a:off x="4151488" y="3269720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多级列表关联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eyJfdGVtcGxhdGVEYXRhIjp7ImNvbnRlbnRUeXBlIjoiJGl0ZW0yX3RpdGxlIiwibGluZUNvdW50IjoiMSIsIndvcmRDb3VudCI6IjEyIn0sInRhZyI6IiRpdGVtMl90aXRsZSJ9</bd:templateData>
          </p:ext>
        </p:extLst>
      </p:sp>
      <p:sp>
        <p:nvSpPr>
          <p:cNvPr id="17" name="AutoShape 17"/>
          <p:cNvSpPr/>
          <p:nvPr/>
        </p:nvSpPr>
        <p:spPr>
          <a:xfrm>
            <a:off x="1486063" y="5094898"/>
            <a:ext cx="4410330" cy="4925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索引标记技巧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eyJfdGVtcGxhdGVEYXRhIjp7ImNvbnRlbnRUeXBlIjoiJGl0ZW0zX3RpdGxlIiwibGluZUNvdW50IjoiMSIsIndvcmRDb3VudCI6IjEyIn0sInRhZyI6IiRpdGVtM190aXRsZSJ9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bruW9leS4jue0ouW8leWIm+W7ulxuIyMjIOiHquWKqOWMluebruW9leeUn+aIkFxu5a+556ug6IqC5YaF5a655bqU55SoXCLmoIfpopgxLzIvM1wi5qC35byP5ZCO77yM5ZyoXCLlvJXnlKjihpLnm67lvZVcIuS4remAieaLqeagvOW8j+WNs+WPr+iHquWKqOeUn+aIkOOAguWPs+mUruebruW9lVwi5pu05paw5Z+fXCLlj6/lkIzmraXkv67mlLnlhoXlrrnvvIzmlK/mjIHorr7nva7liY3lr7znrKbmoLflvI/lkozmmL7npLrnuqfliKvjgIJcbiMjIyDlpJrnuqfliJfooajlhbPogZRcbumAmui/h1wi5a6a5LmJ5paw55qE5aSa57qn5YiX6KGoXCLlsIbnvJblj7fmoLzlvI/vvIjlpoIxLjHvvInkuI7moIfpopjmoLflvI/nu5HlrprvvIznoa7kv53nm67lvZXlsYLnuqfnu5PmnoTlh4bnoa7jgILlj6/oh6rlrprkuYnnvJblj7flrZfkvZPjgIHnvKnov5vph4/lj4rlkI7nu63mlofmnKzlr7npvZDmlrnlvI/jgIJcbiMjIyDntKLlvJXmoIforrDmioDlt6dcbumAieS4reWFs+mUruivjeWQjuS9v+eUqFwi5qCH6K6w57Si5byV6aG5XCLvvIhBbHQrU2hpZnQrWO+8ieWIm+W7uue0ouW8le+8jOaUr+aMgeS6pOWPieW8leeUqOWSjOmhteeggeiMg+WbtOiuvue9ruOAgueUn+aIkOe0ouW8leWJjemcgOWcqFwi5paH5Lu24oaS6YCJ6aG54oaS5pi+56S6XCLkuK3li77pgInpmpDol4/mloflrZfmmL7npLrmoIforrDjgIIiLCJ0cGxpZCI6IjEzNyIsInRwbE5hbWUiOiJsaXN0M18yMDI1MDcwMTA0IiwiZWRpdGVkIjoiZmFsc2UifQ==</bd:templateData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169" y="2514394"/>
            <a:ext cx="6164285" cy="175221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Excel数据处理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673160" y="1704797"/>
            <a:ext cx="1868805" cy="7581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</a:rPr>
              <a:t>PART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544494" y="1514414"/>
            <a:ext cx="971706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eyJtZCI6IiMjIEV4Y2Vs5pWw5o2u5aSE55CGIiwidHBsaWQiOiIxMzciLCJ0cGxOYW1lIjoiaDJ0aXRsZV8xMzdrYWl4dWUiLCJlZGl0ZWQiOiJmYWxzZSJ9</bd:templateData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564771"/>
            <a:ext cx="12190690" cy="1317407"/>
          </a:xfrm>
          <a:prstGeom prst="rect">
            <a:avLst/>
          </a:prstGeom>
          <a:solidFill>
            <a:schemeClr val="accent1">
              <a:alpha val="2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基础公式应用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4" name="AutoShape 4"/>
          <p:cNvSpPr/>
          <p:nvPr/>
        </p:nvSpPr>
        <p:spPr>
          <a:xfrm>
            <a:off x="1836554" y="6038850"/>
            <a:ext cx="8425779" cy="19050"/>
          </a:xfrm>
          <a:prstGeom prst="rect">
            <a:avLst/>
          </a:prstGeom>
          <a:no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320475" y="5991225"/>
            <a:ext cx="11550596" cy="146379"/>
          </a:xfrm>
          <a:prstGeom prst="roundRect">
            <a:avLst>
              <a:gd name="adj" fmla="val 29781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grpSp>
        <p:nvGrpSpPr>
          <p:cNvPr id="6" name="Group 6"/>
          <p:cNvGrpSpPr/>
          <p:nvPr/>
        </p:nvGrpSpPr>
        <p:grpSpPr>
          <a:xfrm>
            <a:off x="756982" y="2038350"/>
            <a:ext cx="2438400" cy="4019550"/>
            <a:chOff x="756982" y="2038350"/>
            <a:chExt cx="2438400" cy="4019550"/>
          </a:xfrm>
        </p:grpSpPr>
        <p:sp>
          <p:nvSpPr>
            <p:cNvPr id="7" name="AutoShape 7"/>
            <p:cNvSpPr/>
            <p:nvPr/>
          </p:nvSpPr>
          <p:spPr>
            <a:xfrm>
              <a:off x="756982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8" name="AutoShape 8"/>
            <p:cNvSpPr/>
            <p:nvPr/>
          </p:nvSpPr>
          <p:spPr>
            <a:xfrm>
              <a:off x="756982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9" name="Group 9"/>
          <p:cNvGrpSpPr/>
          <p:nvPr/>
        </p:nvGrpSpPr>
        <p:grpSpPr>
          <a:xfrm>
            <a:off x="776032" y="2057470"/>
            <a:ext cx="2400300" cy="3933686"/>
            <a:chOff x="776032" y="2057470"/>
            <a:chExt cx="2400300" cy="3933686"/>
          </a:xfrm>
        </p:grpSpPr>
        <p:sp>
          <p:nvSpPr>
            <p:cNvPr id="10" name="AutoShape 10"/>
            <p:cNvSpPr/>
            <p:nvPr/>
          </p:nvSpPr>
          <p:spPr>
            <a:xfrm>
              <a:off x="776032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776032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  <a:ln/>
          </p:spPr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1166557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13" name="AutoShape 13"/>
          <p:cNvSpPr/>
          <p:nvPr/>
        </p:nvSpPr>
        <p:spPr>
          <a:xfrm>
            <a:off x="785557" y="4021401"/>
            <a:ext cx="2381250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SUM函数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766507" y="4515081"/>
            <a:ext cx="2352814" cy="1347864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用于对指定单元格区域内的数值进行求和计算，语法结构为=SUM(数值1,数值2,...)，适用于快速统计销售总额、库存总量等场景。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eyJfdGVtcGxhdGVEYXRhIjp7ImNvbnRlbnRUeXBlIjoiJGl0ZW0xX2MiLCJsaW5lQ291bnQiOiI1Iiwid29yZENvdW50IjoiMTMifSwidGFnIjoiJGl0ZW0xX2MifQ==</bd:templateData>
          </p:ext>
        </p:extLst>
      </p:sp>
      <p:grpSp>
        <p:nvGrpSpPr>
          <p:cNvPr id="15" name="Group 15"/>
          <p:cNvGrpSpPr/>
          <p:nvPr/>
        </p:nvGrpSpPr>
        <p:grpSpPr>
          <a:xfrm>
            <a:off x="3511699" y="1519581"/>
            <a:ext cx="2438400" cy="4538319"/>
            <a:chOff x="3511699" y="1519581"/>
            <a:chExt cx="2438400" cy="4538319"/>
          </a:xfrm>
        </p:grpSpPr>
        <p:sp>
          <p:nvSpPr>
            <p:cNvPr id="16" name="AutoShape 16"/>
            <p:cNvSpPr/>
            <p:nvPr/>
          </p:nvSpPr>
          <p:spPr>
            <a:xfrm>
              <a:off x="3511699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17" name="AutoShape 17"/>
            <p:cNvSpPr/>
            <p:nvPr/>
          </p:nvSpPr>
          <p:spPr>
            <a:xfrm>
              <a:off x="3511699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18" name="Group 18"/>
          <p:cNvGrpSpPr/>
          <p:nvPr/>
        </p:nvGrpSpPr>
        <p:grpSpPr>
          <a:xfrm>
            <a:off x="3530749" y="1538700"/>
            <a:ext cx="2400300" cy="4519200"/>
            <a:chOff x="3530749" y="1538700"/>
            <a:chExt cx="2400300" cy="4519200"/>
          </a:xfrm>
        </p:grpSpPr>
        <p:sp>
          <p:nvSpPr>
            <p:cNvPr id="19" name="AutoShape 19"/>
            <p:cNvSpPr/>
            <p:nvPr/>
          </p:nvSpPr>
          <p:spPr>
            <a:xfrm>
              <a:off x="3530749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20" name="AutoShape 20"/>
            <p:cNvSpPr/>
            <p:nvPr/>
          </p:nvSpPr>
          <p:spPr>
            <a:xfrm>
              <a:off x="3530749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3921274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22" name="AutoShape 22"/>
          <p:cNvSpPr/>
          <p:nvPr/>
        </p:nvSpPr>
        <p:spPr>
          <a:xfrm>
            <a:off x="3530749" y="3664557"/>
            <a:ext cx="2381250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IF函数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23" name="TextBox 23"/>
          <p:cNvSpPr txBox="1"/>
          <p:nvPr/>
        </p:nvSpPr>
        <p:spPr>
          <a:xfrm>
            <a:off x="3516391" y="4158236"/>
            <a:ext cx="2352814" cy="1347864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实现条件判断功能，语法为=IF(条件,真值结果,假值结果)，可嵌套使用处理多条件分类，如业绩达标判定、数据分档等业务需求。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eyJfdGVtcGxhdGVEYXRhIjp7ImNvbnRlbnRUeXBlIjoiJGl0ZW0yX2MiLCJsaW5lQ291bnQiOiI1Iiwid29yZENvdW50IjoiMTMifSwidGFnIjoiJGl0ZW0yX2MifQ==</bd:templateData>
          </p:ext>
        </p:extLst>
      </p:sp>
      <p:grpSp>
        <p:nvGrpSpPr>
          <p:cNvPr id="24" name="Group 24"/>
          <p:cNvGrpSpPr/>
          <p:nvPr/>
        </p:nvGrpSpPr>
        <p:grpSpPr>
          <a:xfrm>
            <a:off x="6276080" y="1519581"/>
            <a:ext cx="2438400" cy="4538319"/>
            <a:chOff x="6276080" y="1519581"/>
            <a:chExt cx="2438400" cy="4538319"/>
          </a:xfrm>
        </p:grpSpPr>
        <p:sp>
          <p:nvSpPr>
            <p:cNvPr id="25" name="AutoShape 25"/>
            <p:cNvSpPr/>
            <p:nvPr/>
          </p:nvSpPr>
          <p:spPr>
            <a:xfrm>
              <a:off x="6276080" y="2748306"/>
              <a:ext cx="2438400" cy="3309594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26" name="AutoShape 26"/>
            <p:cNvSpPr/>
            <p:nvPr/>
          </p:nvSpPr>
          <p:spPr>
            <a:xfrm>
              <a:off x="6276080" y="1519581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27" name="Group 27"/>
          <p:cNvGrpSpPr/>
          <p:nvPr/>
        </p:nvGrpSpPr>
        <p:grpSpPr>
          <a:xfrm>
            <a:off x="6295130" y="1538700"/>
            <a:ext cx="2400300" cy="4519200"/>
            <a:chOff x="6295130" y="1538700"/>
            <a:chExt cx="2400300" cy="4519200"/>
          </a:xfrm>
        </p:grpSpPr>
        <p:sp>
          <p:nvSpPr>
            <p:cNvPr id="28" name="AutoShape 28"/>
            <p:cNvSpPr/>
            <p:nvPr/>
          </p:nvSpPr>
          <p:spPr>
            <a:xfrm>
              <a:off x="6295130" y="2738850"/>
              <a:ext cx="2400300" cy="3319050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29" name="AutoShape 29"/>
            <p:cNvSpPr/>
            <p:nvPr/>
          </p:nvSpPr>
          <p:spPr>
            <a:xfrm>
              <a:off x="6295130" y="1538700"/>
              <a:ext cx="2400300" cy="24003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pic>
        <p:nvPicPr>
          <p:cNvPr id="30" name="Picture 30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6685655" y="1872498"/>
            <a:ext cx="1619250" cy="1619250"/>
          </a:xfrm>
          <a:prstGeom prst="ellipse">
            <a:avLst/>
          </a:prstGeom>
          <a:ln w="57150">
            <a:solidFill>
              <a:srgbClr val="FFFFFF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31" name="AutoShape 31"/>
          <p:cNvSpPr/>
          <p:nvPr/>
        </p:nvSpPr>
        <p:spPr>
          <a:xfrm>
            <a:off x="6295130" y="3664557"/>
            <a:ext cx="2381250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VLOOKUP函数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32" name="TextBox 32"/>
          <p:cNvSpPr txBox="1"/>
          <p:nvPr/>
        </p:nvSpPr>
        <p:spPr>
          <a:xfrm>
            <a:off x="6280772" y="4158236"/>
            <a:ext cx="2352814" cy="1347864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垂直查找函数，通过=VLOOKUP(查找值,数据表,列序数,匹配方式)实现跨表数据匹配，特别适用于从大型数据库中提取特定信息。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eyJfdGVtcGxhdGVEYXRhIjp7ImNvbnRlbnRUeXBlIjoiJGl0ZW0zX2MiLCJsaW5lQ291bnQiOiI1Iiwid29yZENvdW50IjoiMTMifSwidGFnIjoiJGl0ZW0zX2MifQ==</bd:templateData>
          </p:ext>
        </p:extLst>
      </p:sp>
      <p:grpSp>
        <p:nvGrpSpPr>
          <p:cNvPr id="33" name="Group 33"/>
          <p:cNvGrpSpPr/>
          <p:nvPr/>
        </p:nvGrpSpPr>
        <p:grpSpPr>
          <a:xfrm>
            <a:off x="9022814" y="2038350"/>
            <a:ext cx="2438400" cy="4019550"/>
            <a:chOff x="9022814" y="2038350"/>
            <a:chExt cx="2438400" cy="4019550"/>
          </a:xfrm>
        </p:grpSpPr>
        <p:sp>
          <p:nvSpPr>
            <p:cNvPr id="34" name="AutoShape 34"/>
            <p:cNvSpPr/>
            <p:nvPr/>
          </p:nvSpPr>
          <p:spPr>
            <a:xfrm>
              <a:off x="9022814" y="3267075"/>
              <a:ext cx="2438400" cy="2790825"/>
            </a:xfrm>
            <a:prstGeom prst="rect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35" name="AutoShape 35"/>
            <p:cNvSpPr/>
            <p:nvPr/>
          </p:nvSpPr>
          <p:spPr>
            <a:xfrm>
              <a:off x="9022814" y="2038350"/>
              <a:ext cx="2438400" cy="24384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</p:grpSp>
      <p:grpSp>
        <p:nvGrpSpPr>
          <p:cNvPr id="36" name="Group 36"/>
          <p:cNvGrpSpPr/>
          <p:nvPr/>
        </p:nvGrpSpPr>
        <p:grpSpPr>
          <a:xfrm>
            <a:off x="9041864" y="2057470"/>
            <a:ext cx="2400300" cy="3933686"/>
            <a:chOff x="9041864" y="2057470"/>
            <a:chExt cx="2400300" cy="3933686"/>
          </a:xfrm>
        </p:grpSpPr>
        <p:sp>
          <p:nvSpPr>
            <p:cNvPr id="37" name="AutoShape 37"/>
            <p:cNvSpPr/>
            <p:nvPr/>
          </p:nvSpPr>
          <p:spPr>
            <a:xfrm>
              <a:off x="9041864" y="3257620"/>
              <a:ext cx="2400300" cy="2733536"/>
            </a:xfrm>
            <a:prstGeom prst="rect">
              <a:avLst/>
            </a:prstGeom>
            <a:solidFill>
              <a:schemeClr val="lt1">
                <a:alpha val="10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38" name="AutoShape 38"/>
            <p:cNvSpPr/>
            <p:nvPr/>
          </p:nvSpPr>
          <p:spPr>
            <a:xfrm>
              <a:off x="9041864" y="2057470"/>
              <a:ext cx="2400300" cy="2400300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  <a:ln/>
          </p:spPr>
        </p:sp>
      </p:grpSp>
      <p:pic>
        <p:nvPicPr>
          <p:cNvPr id="39" name="Picture 39"/>
          <p:cNvPicPr>
            <a:picLocks noChangeAspect="1"/>
          </p:cNvPicPr>
          <p:nvPr/>
        </p:nvPicPr>
        <p:blipFill>
          <a:blip r:embed="rId6">
            <a:alphaModFix/>
          </a:blip>
          <a:srcRect/>
          <a:stretch>
            <a:fillRect/>
          </a:stretch>
        </p:blipFill>
        <p:spPr>
          <a:xfrm>
            <a:off x="9432389" y="2296017"/>
            <a:ext cx="1619250" cy="16192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eyJfdGVtcGxhdGVEYXRhIjp7ImNvbnRlbnRUeXBlIjoiJGltZzMifSwidGFnIjoiJGltZzMifQ==</bd:templateData>
          </p:ext>
        </p:extLst>
      </p:pic>
      <p:sp>
        <p:nvSpPr>
          <p:cNvPr id="40" name="AutoShape 40"/>
          <p:cNvSpPr/>
          <p:nvPr/>
        </p:nvSpPr>
        <p:spPr>
          <a:xfrm>
            <a:off x="9051389" y="4021401"/>
            <a:ext cx="2381250" cy="454737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65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COUNTIF函数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eyJfdGVtcGxhdGVEYXRhIjp7ImNvbnRlbnRUeXBlIjoiJGl0ZW00X3RpdGxlIiwibGluZUNvdW50IjoiMSIsIndvcmRDb3VudCI6IjkifSwidGFnIjoiJGl0ZW00X3RpdGxlIn0=</bd:templateData>
          </p:ext>
        </p:extLst>
      </p:sp>
      <p:sp>
        <p:nvSpPr>
          <p:cNvPr id="41" name="TextBox 41"/>
          <p:cNvSpPr txBox="1"/>
          <p:nvPr/>
        </p:nvSpPr>
        <p:spPr>
          <a:xfrm>
            <a:off x="9032339" y="4515081"/>
            <a:ext cx="2352814" cy="1347864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条件计数函数，语法=COUNTIF(统计范围,条件)，能快速统计满足特定条件的记录数量，如计算某分数段学生人数或特定产品销量。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eyJfdGVtcGxhdGVEYXRhIjp7ImNvbnRlbnRUeXBlIjoiJGl0ZW00X2MiLCJsaW5lQ291bnQiOiI1Iiwid29yZENvdW50IjoiMTMifSwidGFnIjoiJGl0ZW00X2MifQ==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fuuehgOWFrOW8j+W6lOeUqFxuIyMjIFNVTeWHveaVsFxu55So5LqO5a+55oyH5a6a5Y2V5YWD5qC85Yy65Z+f5YaF55qE5pWw5YC86L+b6KGM5rGC5ZKM6K6h566X77yM6K+t5rOV57uT5p6E5Li6PVNVTSjmlbDlgLwxLOaVsOWAvDIsLi4uKe+8jOmAgueUqOS6juW/q+mAn+e7n+iuoemUgOWUruaAu+mineOAgeW6k+WtmOaAu+mHj+etieWcuuaZr+OAglxuIyMjIElG5Ye95pWwXG7lrp7njrDmnaHku7bliKTmlq3lip/og73vvIzor63ms5XkuLo9SUYo5p2h5Lu2LOecn+WAvOe7k+aenCzlgYflgLznu5Pmnpwp77yM5Y+v5bWM5aWX5L2/55So5aSE55CG5aSa5p2h5Lu25YiG57G777yM5aaC5Lia57up6L6+5qCH5Yik5a6a44CB5pWw5o2u5YiG5qGj562J5Lia5Yqh6ZyA5rGC44CCXG4jIyMgVkxPT0tVUOWHveaVsFxu5Z6C55u05p+l5om+5Ye95pWw77yM6YCa6L+HPVZMT09LVVAo5p+l5om+5YC8LOaVsOaNruihqCzliJfluo/mlbAs5Yy56YWN5pa55byPKeWunueOsOi3qOihqOaVsOaNruWMuemFje+8jOeJueWIq+mAgueUqOS6juS7juWkp+Wei+aVsOaNruW6k+S4reaPkOWPlueJueWumuS/oeaBr+OAglxuIyMjIENPVU5USUblh73mlbBcbuadoeS7tuiuoeaVsOWHveaVsO+8jOivreazlT1DT1VOVElGKOe7n+iuoeiMg+WbtCzmnaHku7Yp77yM6IO95b+r6YCf57uf6K6h5ruh6Laz54m55a6a5p2h5Lu255qE6K6w5b2V5pWw6YeP77yM5aaC6K6h566X5p+Q5YiG5pWw5q615a2m55Sf5Lq65pWw5oiW54m55a6a5Lqn5ZOB6ZSA6YeP44CCIiwidHBsaWQiOiIxMzciLCJ0cGxOYW1lIjoibGlzdDRfMjAyNTA3MDMxMCIsImVkaXRlZCI6ImZhbHNlIn0=</bd:templateData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数据透视表制作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4" name="AutoShape 4"/>
          <p:cNvSpPr/>
          <p:nvPr/>
        </p:nvSpPr>
        <p:spPr>
          <a:xfrm>
            <a:off x="1145518" y="1368625"/>
            <a:ext cx="9900511" cy="4391356"/>
          </a:xfrm>
          <a:prstGeom prst="roundRect">
            <a:avLst>
              <a:gd name="adj" fmla="val 6363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7861021" y="1599594"/>
            <a:ext cx="2967836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计算字段添加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7861021" y="2092152"/>
            <a:ext cx="2967836" cy="1556388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在已有字段基础上创建衍生指标，如通过"利润=销售额-成本"公式添加新分析维度，扩展数据透视表分析能力。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eyJfdGVtcGxhdGVEYXRhIjp7ImNvbnRlbnRUeXBlIjoiJGl0ZW0zX2MiLCJsaW5lQ291bnQiOiI1Iiwid29yZENvdW50IjoiMTUifSwidGFnIjoiJGl0ZW0zX2MifQ==</bd:templateData>
          </p:ext>
        </p:extLst>
      </p:sp>
      <p:sp>
        <p:nvSpPr>
          <p:cNvPr id="8" name="AutoShape 8"/>
          <p:cNvSpPr/>
          <p:nvPr/>
        </p:nvSpPr>
        <p:spPr>
          <a:xfrm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8089903" y="3872142"/>
            <a:ext cx="2510071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10" name="AutoShape 10"/>
          <p:cNvSpPr/>
          <p:nvPr/>
        </p:nvSpPr>
        <p:spPr>
          <a:xfrm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619178" y="1616124"/>
            <a:ext cx="2913571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分组功能应用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619178" y="2108682"/>
            <a:ext cx="2913571" cy="1556388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对日期字段可自动按年月分组，对数值字段可手动设置区间分组，实现数据层级化分析，如将年龄分为0-18/19-35/36-60等区间段。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eyJfdGVtcGxhdGVEYXRhIjp7ImNvbnRlbnRUeXBlIjoiJGl0ZW0yX2MiLCJsaW5lQ291bnQiOiI1Iiwid29yZENvdW50IjoiMTUifSwidGFnIjoiJGl0ZW0yX2MifQ==</bd:templateData>
          </p:ext>
        </p:extLst>
      </p:sp>
      <p:sp>
        <p:nvSpPr>
          <p:cNvPr id="13" name="AutoShape 13"/>
          <p:cNvSpPr/>
          <p:nvPr/>
        </p:nvSpPr>
        <p:spPr>
          <a:xfrm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alphaModFix/>
          </a:blip>
          <a:srcRect t="9157" b="9157"/>
          <a:stretch>
            <a:fillRect/>
          </a:stretch>
        </p:blipFill>
        <p:spPr>
          <a:xfrm>
            <a:off x="4806514" y="3896014"/>
            <a:ext cx="2726235" cy="148465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5" name="AutoShape 15"/>
          <p:cNvSpPr/>
          <p:nvPr/>
        </p:nvSpPr>
        <p:spPr>
          <a:xfrm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AutoShape 16"/>
          <p:cNvSpPr/>
          <p:nvPr/>
        </p:nvSpPr>
        <p:spPr>
          <a:xfrm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7" name="Freeform 17"/>
          <p:cNvSpPr/>
          <p:nvPr/>
        </p:nvSpPr>
        <p:spPr>
          <a:xfrm>
            <a:off x="5972877" y="5366195"/>
            <a:ext cx="393511" cy="39351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Freeform 18"/>
          <p:cNvSpPr/>
          <p:nvPr/>
        </p:nvSpPr>
        <p:spPr>
          <a:xfrm>
            <a:off x="9165292" y="5094559"/>
            <a:ext cx="359293" cy="35929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w="304800" h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w="304800" h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9" name="AutoShape 19"/>
          <p:cNvSpPr/>
          <p:nvPr/>
        </p:nvSpPr>
        <p:spPr>
          <a:xfrm>
            <a:off x="1378393" y="1632654"/>
            <a:ext cx="2955042" cy="492557"/>
          </a:xfrm>
          <a:prstGeom prst="rect">
            <a:avLst/>
          </a:prstGeom>
          <a:noFill/>
          <a:ln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字段布局原则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1471799" y="2125212"/>
            <a:ext cx="2768229" cy="1556388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行字段放置分类维度（如地区、时间），列字段安排对比指标，值字段选择需要计算的数值型数据（如销售额、数量），报表筛选字段用于动态过滤数据。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eyJfdGVtcGxhdGVEYXRhIjp7ImNvbnRlbnRUeXBlIjoiJGl0ZW0xX2MiLCJsaW5lQ291bnQiOiI1Iiwid29yZENvdW50IjoiMTQifSwidGFnIjoiJGl0ZW0xX2MifQ==</bd:templateData>
          </p:ext>
        </p:extLst>
      </p:sp>
      <p:sp>
        <p:nvSpPr>
          <p:cNvPr id="21" name="AutoShape 21"/>
          <p:cNvSpPr/>
          <p:nvPr/>
        </p:nvSpPr>
        <p:spPr>
          <a:xfrm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alphaModFix/>
          </a:blip>
          <a:srcRect t="27351" b="27351"/>
          <a:stretch>
            <a:fillRect/>
          </a:stretch>
        </p:blipFill>
        <p:spPr>
          <a:xfrm>
            <a:off x="1617020" y="3905202"/>
            <a:ext cx="2458663" cy="12678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23" name="AutoShape 23"/>
          <p:cNvSpPr/>
          <p:nvPr/>
        </p:nvSpPr>
        <p:spPr>
          <a:xfrm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4" name="AutoShape 24"/>
          <p:cNvSpPr/>
          <p:nvPr/>
        </p:nvSpPr>
        <p:spPr>
          <a:xfrm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5" name="Freeform 25"/>
          <p:cNvSpPr/>
          <p:nvPr/>
        </p:nvSpPr>
        <p:spPr>
          <a:xfrm>
            <a:off x="2582871" y="5053309"/>
            <a:ext cx="526963" cy="52696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VsOaNrumAj+inhuihqOWItuS9nFxuIyMjIOWtl+auteW4g+WxgOWOn+WImVxu6KGM5a2X5q615pS+572u5YiG57G757u05bqm77yI5aaC5Zyw5Yy644CB5pe26Ze077yJ77yM5YiX5a2X5q615a6J5o6S5a+55q+U5oyH5qCH77yM5YC85a2X5q616YCJ5oup6ZyA6KaB6K6h566X55qE5pWw5YC85Z6L5pWw5o2u77yI5aaC6ZSA5ZSu6aKd44CB5pWw6YeP77yJ77yM5oql6KGo562b6YCJ5a2X5q6155So5LqO5Yqo5oCB6L+H5ruk5pWw5o2u44CCXG4jIyMg5YiG57uE5Yqf6IO95bqU55SoXG7lr7nml6XmnJ/lrZfmrrXlj6/oh6rliqjmjInlubTmnIjliIbnu4TvvIzlr7nmlbDlgLzlrZfmrrXlj6/miYvliqjorr7nva7ljLrpl7TliIbnu4TvvIzlrp7njrDmlbDmja7lsYLnuqfljJbliIbmnpDvvIzlpoLlsIblubTpvoTliIbkuLowLTE4LzE5LTM1LzM2LTYw562J5Yy66Ze05q6144CCXG4jIyMg6K6h566X5a2X5q615re75YqgXG7lnKjlt7LmnInlrZfmrrXln7rnoYDkuIrliJvlu7rooY3nlJ/mjIfmoIfvvIzlpoLpgJrov4dcIuWIqea2pj3plIDllK7pop0t5oiQ5pysXCLlhazlvI/mt7vliqDmlrDliIbmnpDnu7TluqbvvIzmianlsZXmlbDmja7pgI/op4booajliIbmnpDog73lipvjgIIiLCJ0cGxpZCI6IjEzNyIsInRwbE5hbWUiOiJsaXN0M18yMDI1MDcwMTA3IiwiZWRpdGVkIjoiZmFsc2UifQ==</bd:templateData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0906" r="10906"/>
          <a:stretch>
            <a:fillRect/>
          </a:stretch>
        </p:blipFill>
        <p:spPr>
          <a:xfrm>
            <a:off x="4451873" y="1812219"/>
            <a:ext cx="3287800" cy="3946292"/>
          </a:xfrm>
          <a:prstGeom prst="rect">
            <a:avLst/>
          </a:prstGeom>
          <a:noFill/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595787" y="1726745"/>
            <a:ext cx="3550411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组合图表制作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98933" y="2298345"/>
            <a:ext cx="3344120" cy="150407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通过主次坐标轴将柱形图与折线图结合，同时展示数量趋势和比率变化，如用柱形图显示销售额，折线图显示同比增长率。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eyJfdGVtcGxhdGVEYXRhIjp7ImNvbnRlbnRUeXBlIjoiJGl0ZW0xX2MiLCJsaW5lQ291bnQiOiI0Iiwid29yZENvdW50IjoiMTUifSwidGFnIjoiJGl0ZW0xX2MifQ==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8065494" y="1713967"/>
            <a:ext cx="3583632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动态图表实现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8211865" y="2285568"/>
            <a:ext cx="3290891" cy="1516848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利用数据验证创建下拉菜单，结合INDEX/MATCH函数实现图表数据源的动态切换，制作可交互式仪表盘。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eyJfdGVtcGxhdGVEYXRhIjp7ImNvbnRlbnRUeXBlIjoiJGl0ZW0yX2MiLCJsaW5lQ291bnQiOiI0Iiwid29yZENvdW50IjoiMTUifSwidGFnIjoiJGl0ZW0yX2MifQ==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595787" y="4317136"/>
            <a:ext cx="3550411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条件格式应用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712714" y="4807470"/>
            <a:ext cx="3316558" cy="1384306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对数据条添加渐变颜色，设置图标集显示上升/下降趋势，使数据差异一目了然，提升报表可读性。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eyJfdGVtcGxhdGVEYXRhIjp7ImNvbnRlbnRUeXBlIjoiJGl0ZW0zX2MiLCJsaW5lQ291bnQiOiI0Iiwid29yZENvdW50IjoiMTUifSwidGFnIjoiJGl0ZW0zX2MifQ==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7972345" y="4317136"/>
            <a:ext cx="3676782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迷你图插入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8165290" y="4823328"/>
            <a:ext cx="3290891" cy="1368448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在单元格内嵌入折线图/柱形图/盈亏图，实现高密度数据可视化，适合在有限空间展示多组数据趋势。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eyJfdGVtcGxhdGVEYXRhIjp7ImNvbnRlbnRUeXBlIjoiJGl0ZW00X2MiLCJsaW5lQ291bnQiOiI0Iiwid29yZENvdW50IjoiMTUifSwidGFnIjoiJGl0ZW00X2MifQ==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图表可视化技巧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vuihqOWPr+inhuWMluaKgOW3p1xuIyMjIOe7hOWQiOWbvuihqOWItuS9nFxu6YCa6L+H5Li75qyh5Z2Q5qCH6L205bCG5p+x5b2i5Zu+5LiO5oqY57q/5Zu+57uT5ZCI77yM5ZCM5pe25bGV56S65pWw6YeP6LaL5Yq/5ZKM5q+U546H5Y+Y5YyW77yM5aaC55So5p+x5b2i5Zu+5pi+56S66ZSA5ZSu6aKd77yM5oqY57q/5Zu+5pi+56S65ZCM5q+U5aKe6ZW/546H44CCXG4jIyMg5Yqo5oCB5Zu+6KGo5a6e546wXG7liKnnlKjmlbDmja7pqozor4HliJvlu7rkuIvmi4noj5zljZXvvIznu5PlkIhJTkRFWC9NQVRDSOWHveaVsOWunueOsOWbvuihqOaVsOaNrua6kOeahOWKqOaAgeWIh+aNou+8jOWItuS9nOWPr+S6pOS6kuW8j+S7quihqOebmOOAglxuIyMjIOadoeS7tuagvOW8j+W6lOeUqFxu5a+55pWw5o2u5p2h5re75Yqg5riQ5Y+Y6aKc6Imy77yM6K6+572u5Zu+5qCH6ZuG5pi+56S65LiK5Y2HL+S4i+mZjei2i+WKv++8jOS9v+aVsOaNruW3ruW8guS4gOebruS6hueEtu+8jOaPkOWNh+aKpeihqOWPr+ivu+aAp+OAglxuIyMjIOi/t+S9oOWbvuaPkuWFpVxu5Zyo5Y2V5YWD5qC85YaF5bWM5YWl5oqY57q/5Zu+L+afseW9ouWbvi/nm4jkuo/lm77vvIzlrp7njrDpq5jlr4bluqbmlbDmja7lj6/op4bljJbvvIzpgILlkIjlnKjmnInpmZDnqbrpl7TlsZXnpLrlpJrnu4TmlbDmja7otovlir/jgIIiLCJ0cGxpZCI6IjEzNyIsInRwbE5hbWUiOiJsaXN0NF9JbWdrbTI0MDMxMjAxIiwiZWRpdGVkIjoiZmFsc2UifQ==</bd:templateData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169" y="2514394"/>
            <a:ext cx="6164285" cy="175221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PowerPoint演示制作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673160" y="1704797"/>
            <a:ext cx="1868805" cy="7581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</a:rPr>
              <a:t>PART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544494" y="1514414"/>
            <a:ext cx="971706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eyJtZCI6IiMjIFBvd2VyUG9pbnTmvJTnpLrliLbkvZwiLCJ0cGxpZCI6IjEzNyIsInRwbE5hbWUiOiJoMnRpdGxlXzEzN2thaXh1ZSIsImVkaXRlZCI6ImZhbHNlIn0=</bd:templateData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幻灯片版式设计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971899" y="5294312"/>
            <a:ext cx="10179961" cy="167670"/>
          </a:xfrm>
          <a:prstGeom prst="roundRect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975912" y="1982248"/>
            <a:ext cx="2807806" cy="2927570"/>
          </a:xfrm>
          <a:prstGeom prst="roundRect">
            <a:avLst>
              <a:gd name="adj" fmla="val 619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736384" y="1556419"/>
            <a:ext cx="3300170" cy="718585"/>
          </a:xfrm>
          <a:prstGeom prst="round2Same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 flipV="1">
            <a:off x="3783718" y="2275005"/>
            <a:ext cx="252836" cy="385907"/>
          </a:xfrm>
          <a:prstGeom prst="rtTriangl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 flipH="1" flipV="1">
            <a:off x="732602" y="2275005"/>
            <a:ext cx="252836" cy="385907"/>
          </a:xfrm>
          <a:prstGeom prst="rtTriangle">
            <a:avLst/>
          </a:prstGeom>
          <a:solidFill>
            <a:schemeClr val="accent1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 flipV="1">
            <a:off x="2128310" y="4890768"/>
            <a:ext cx="503010" cy="155694"/>
          </a:xfrm>
          <a:prstGeom prst="triangle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908746" y="1628011"/>
            <a:ext cx="2955446" cy="560761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网格系统应用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127723" y="2420053"/>
            <a:ext cx="2504184" cy="2198760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采用12列网格系统进行页面布局设计，将标题区域设置为12列宽，正文内容分左右两栏各占6列，确保元素对齐规范。这种结构化设计能保持不同幻灯片间的视觉连贯性，使专业演示文稿具有统一的版式风格。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eyJfdGVtcGxhdGVEYXRhIjp7ImNvbnRlbnRUeXBlIjoiJGl0ZW0xX2MiLCJsaW5lQ291bnQiOiI4Iiwid29yZENvdW50IjoiMTIifSwidGFnIjoiJGl0ZW0xX2MifQ==</bd:templateData>
          </p:ext>
        </p:extLst>
      </p:sp>
      <p:sp>
        <p:nvSpPr>
          <p:cNvPr id="11" name="AutoShape 11"/>
          <p:cNvSpPr/>
          <p:nvPr/>
        </p:nvSpPr>
        <p:spPr>
          <a:xfrm>
            <a:off x="2278016" y="5210477"/>
            <a:ext cx="190500" cy="190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1956052" y="5521434"/>
            <a:ext cx="847526" cy="824242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eyJfdGVtcGxhdGVEYXRhIjp7ImNvbnRlbnRUeXBlIjoiIiwibGluZUNvdW50IjoiMSIsIndvcmRDb3VudCI6IjEifSwidGFnIjoibm9FZGl0In0=</bd:templateData>
          </p:ext>
        </p:extLst>
      </p:sp>
      <p:sp>
        <p:nvSpPr>
          <p:cNvPr id="13" name="AutoShape 13"/>
          <p:cNvSpPr/>
          <p:nvPr/>
        </p:nvSpPr>
        <p:spPr>
          <a:xfrm>
            <a:off x="4611281" y="1969710"/>
            <a:ext cx="2807806" cy="2927570"/>
          </a:xfrm>
          <a:prstGeom prst="roundRect">
            <a:avLst>
              <a:gd name="adj" fmla="val 619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AutoShape 14"/>
          <p:cNvSpPr/>
          <p:nvPr/>
        </p:nvSpPr>
        <p:spPr>
          <a:xfrm>
            <a:off x="4371752" y="1543882"/>
            <a:ext cx="3300170" cy="718585"/>
          </a:xfrm>
          <a:prstGeom prst="round2SameRect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AutoShape 15"/>
          <p:cNvSpPr/>
          <p:nvPr/>
        </p:nvSpPr>
        <p:spPr>
          <a:xfrm flipV="1">
            <a:off x="7419087" y="2262467"/>
            <a:ext cx="252836" cy="385907"/>
          </a:xfrm>
          <a:prstGeom prst="rtTriangle">
            <a:avLst/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AutoShape 16"/>
          <p:cNvSpPr/>
          <p:nvPr/>
        </p:nvSpPr>
        <p:spPr>
          <a:xfrm flipH="1" flipV="1">
            <a:off x="4377495" y="2262467"/>
            <a:ext cx="252836" cy="385907"/>
          </a:xfrm>
          <a:prstGeom prst="rtTriangle">
            <a:avLst/>
          </a:prstGeom>
          <a:solidFill>
            <a:schemeClr val="accent3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7" name="AutoShape 17"/>
          <p:cNvSpPr/>
          <p:nvPr/>
        </p:nvSpPr>
        <p:spPr>
          <a:xfrm flipV="1">
            <a:off x="5763679" y="4878230"/>
            <a:ext cx="503010" cy="155694"/>
          </a:xfrm>
          <a:prstGeom prst="triangle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4494528" y="1628011"/>
            <a:ext cx="3054619" cy="560761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留白艺术处理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4763092" y="2407515"/>
            <a:ext cx="2504184" cy="2198760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在页面边缘保留1.5厘米安全距离，元素间距不小于0.5厘米。通过调整文字行间距为字号的1.5倍、段落间距为行间距的2倍，有效提升页面呼吸感和信息可读性，避免视觉拥挤。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eyJfdGVtcGxhdGVEYXRhIjp7ImNvbnRlbnRUeXBlIjoiJGl0ZW0yX2MiLCJsaW5lQ291bnQiOiI4Iiwid29yZENvdW50IjoiMTIifSwidGFnIjoiJGl0ZW0yX2MifQ==</bd:templateData>
          </p:ext>
        </p:extLst>
      </p:sp>
      <p:sp>
        <p:nvSpPr>
          <p:cNvPr id="20" name="AutoShape 20"/>
          <p:cNvSpPr/>
          <p:nvPr/>
        </p:nvSpPr>
        <p:spPr>
          <a:xfrm>
            <a:off x="5913384" y="5197939"/>
            <a:ext cx="190500" cy="190500"/>
          </a:xfrm>
          <a:prstGeom prst="ellipse">
            <a:avLst/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1" name="TextBox 21"/>
          <p:cNvSpPr txBox="1"/>
          <p:nvPr/>
        </p:nvSpPr>
        <p:spPr>
          <a:xfrm>
            <a:off x="5591421" y="5508897"/>
            <a:ext cx="847526" cy="824242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eyJfdGVtcGxhdGVEYXRhIjp7ImNvbnRlbnRUeXBlIjoiIiwibGluZUNvdW50IjoiMSIsIndvcmRDb3VudCI6IjEifSwidGFnIjoibm9FZGl0In0=</bd:templateData>
          </p:ext>
        </p:extLst>
      </p:sp>
      <p:sp>
        <p:nvSpPr>
          <p:cNvPr id="22" name="AutoShape 22"/>
          <p:cNvSpPr/>
          <p:nvPr/>
        </p:nvSpPr>
        <p:spPr>
          <a:xfrm>
            <a:off x="8251553" y="1969149"/>
            <a:ext cx="2807806" cy="2927570"/>
          </a:xfrm>
          <a:prstGeom prst="roundRect">
            <a:avLst>
              <a:gd name="adj" fmla="val 619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3" name="AutoShape 23"/>
          <p:cNvSpPr/>
          <p:nvPr/>
        </p:nvSpPr>
        <p:spPr>
          <a:xfrm>
            <a:off x="8012024" y="1543320"/>
            <a:ext cx="3300170" cy="718585"/>
          </a:xfrm>
          <a:prstGeom prst="round2SameRect">
            <a:avLst/>
          </a:pr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4" name="AutoShape 24"/>
          <p:cNvSpPr/>
          <p:nvPr/>
        </p:nvSpPr>
        <p:spPr>
          <a:xfrm flipV="1">
            <a:off x="11059359" y="2261906"/>
            <a:ext cx="252836" cy="385907"/>
          </a:xfrm>
          <a:prstGeom prst="rtTriangle">
            <a:avLst/>
          </a:prstGeom>
          <a:solidFill>
            <a:schemeClr val="accent6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5" name="AutoShape 25"/>
          <p:cNvSpPr/>
          <p:nvPr/>
        </p:nvSpPr>
        <p:spPr>
          <a:xfrm flipH="1" flipV="1">
            <a:off x="8008242" y="2261906"/>
            <a:ext cx="252836" cy="385907"/>
          </a:xfrm>
          <a:prstGeom prst="rtTriangle">
            <a:avLst/>
          </a:prstGeom>
          <a:solidFill>
            <a:schemeClr val="accent6">
              <a:alpha val="100000"/>
              <a:lumMod val="5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6" name="AutoShape 26"/>
          <p:cNvSpPr/>
          <p:nvPr/>
        </p:nvSpPr>
        <p:spPr>
          <a:xfrm flipV="1">
            <a:off x="9403951" y="4877669"/>
            <a:ext cx="503010" cy="155694"/>
          </a:xfrm>
          <a:prstGeom prst="triangle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27" name="TextBox 27"/>
          <p:cNvSpPr txBox="1"/>
          <p:nvPr/>
        </p:nvSpPr>
        <p:spPr>
          <a:xfrm>
            <a:off x="8134799" y="1628011"/>
            <a:ext cx="3054619" cy="560761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视觉层级构建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28" name="TextBox 28"/>
          <p:cNvSpPr txBox="1"/>
          <p:nvPr/>
        </p:nvSpPr>
        <p:spPr>
          <a:xfrm>
            <a:off x="8403364" y="2406954"/>
            <a:ext cx="2504184" cy="2198760"/>
          </a:xfrm>
          <a:prstGeom prst="rect">
            <a:avLst/>
          </a:prstGeom>
          <a:ln/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主标题字号比副标题大30%，关键数据使用对比色突出，重要内容放置在页面顶部1/3视觉重心区。这种层级设计能让观众在3秒内捕捉核心信息，符合专业PPT的信息传达效率要求。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eyJfdGVtcGxhdGVEYXRhIjp7ImNvbnRlbnRUeXBlIjoiJGl0ZW0zX2MiLCJsaW5lQ291bnQiOiI4Iiwid29yZENvdW50IjoiMTIifSwidGFnIjoiJGl0ZW0zX2MifQ==</bd:templateData>
          </p:ext>
        </p:extLst>
      </p:sp>
      <p:sp>
        <p:nvSpPr>
          <p:cNvPr id="29" name="AutoShape 29"/>
          <p:cNvSpPr/>
          <p:nvPr/>
        </p:nvSpPr>
        <p:spPr>
          <a:xfrm>
            <a:off x="9553656" y="5197378"/>
            <a:ext cx="190500" cy="190500"/>
          </a:xfrm>
          <a:prstGeom prst="ellipse">
            <a:avLst/>
          </a:pr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0" name="TextBox 30"/>
          <p:cNvSpPr txBox="1"/>
          <p:nvPr/>
        </p:nvSpPr>
        <p:spPr>
          <a:xfrm>
            <a:off x="9231692" y="5508335"/>
            <a:ext cx="847526" cy="824242"/>
          </a:xfrm>
          <a:prstGeom prst="rect">
            <a:avLst/>
          </a:prstGeom>
          <a:ln/>
        </p:spPr>
        <p:txBody>
          <a:bodyPr vert="horz" wrap="square" lIns="76200" tIns="0" rIns="57150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eyJfdGVtcGxhdGVEYXRhIjp7ImNvbnRlbnRUeXBlIjoiIiwibGluZUNvdW50IjoiMSIsIndvcmRDb3VudCI6IjEifSwidGFnIjoibm9FZGl0In0=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5u+eBr+eJh+eJiOW8j+iuvuiuoVxuIyMjIOe9keagvOezu+e7n+W6lOeUqFxu6YeH55SoMTLliJfnvZHmoLzns7vnu5/ov5vooYzpobXpnaLluIPlsYDorr7orqHvvIzlsIbmoIfpopjljLrln5/orr7nva7kuLoxMuWIl+Wuve+8jOato+aWh+WGheWuueWIhuW3puWPs+S4pOagj+WQhOWNoDbliJfvvIznoa7kv53lhYPntKDlr7npvZDop4TojIPjgILov5nnp43nu5PmnoTljJborr7orqHog73kv53mjIHkuI3lkIzlubvnga/niYfpl7TnmoTop4bop4nov57otK/mgKfvvIzkvb/kuJPkuJrmvJTnpLrmlofnqL/lhbfmnInnu5/kuIDnmoTniYjlvI/po47moLzjgIJcbiMjIyDnlZnnmb3oibrmnK/lpITnkIZcbuWcqOmhtemdoui+uee8mOS/neeVmTEuNeWOmOexs+WuieWFqOi3neemu++8jOWFg+e0oOmXtOi3neS4jeWwj+S6jjAuNeWOmOexs+OAgumAmui/h+iwg+aVtOaWh+Wtl+ihjOmXtOi3neS4uuWtl+WPt+eahDEuNeWAjeOAgeauteiQvemXtOi3neS4uuihjOmXtOi3neeahDLlgI3vvIzmnInmlYjmj5DljYfpobXpnaLlkbzlkLjmhJ/lkozkv6Hmga/lj6/or7vmgKfvvIzpgb/lhY3op4bop4nmi6XmjKTjgIJcbiMjIyDop4bop4nlsYLnuqfmnoTlu7pcbuS4u+agh+mimOWtl+WPt+avlOWJr+agh+mimOWkpzMwJe+8jOWFs+mUruaVsOaNruS9v+eUqOWvueavlOiJsueqgeWHuu+8jOmHjeimgeWGheWuueaUvue9ruWcqOmhtemdoumhtumDqDEvM+inhuiniemHjeW/g+WMuuOAgui/meenjeWxgue6p+iuvuiuoeiDveiuqeinguS8l+WcqDPnp5LlhoXmjZXmjYnmoLjlv4Pkv6Hmga/vvIznrKblkIjkuJPkuJpQUFTnmoTkv6Hmga/kvKDovr7mlYjnjofopoHmsYLjgIIiLCJ0cGxpZCI6IjEzNyIsInRwbE5hbWUiOiJsaXN0M18yMDI1MDcwMTA4IiwiZWRpdGVkIjoiZmFsc2UifQ==</bd:templateData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8830" y="2849807"/>
            <a:ext cx="2567128" cy="2938172"/>
          </a:xfrm>
          <a:prstGeom prst="rect">
            <a:avLst/>
          </a:prstGeom>
          <a:noFill/>
          <a:ln w="19050">
            <a:solidFill>
              <a:schemeClr val="accent5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动画效果设置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80377" y="3437026"/>
            <a:ext cx="2424033" cy="162464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通过"动画&gt;高级动画&gt;添加动画"选择效果，在动画窗格中设置对象为触发器，实现点击特定元素时启动动画的交互效果，适合强调重点内容或分步展示复杂信息。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eyJfdGVtcGxhdGVEYXRhIjp7ImNvbnRlbnRUeXBlIjoiJGl0ZW0xX2MiLCJsaW5lQ291bnQiOiI2Iiwid29yZENvdW50IjoiMTMifSwidGFnIjoiJGl0ZW0xX2MifQ==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608830" y="3018209"/>
            <a:ext cx="2567128" cy="39088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5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单击触发动画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6" name="AutoShape 6"/>
          <p:cNvSpPr/>
          <p:nvPr/>
        </p:nvSpPr>
        <p:spPr>
          <a:xfrm>
            <a:off x="3449091" y="2503526"/>
            <a:ext cx="2567128" cy="2938172"/>
          </a:xfrm>
          <a:prstGeom prst="rect">
            <a:avLst/>
          </a:prstGeom>
          <a:noFill/>
          <a:ln w="19050">
            <a:solidFill>
              <a:schemeClr val="accent4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3520638" y="3090745"/>
            <a:ext cx="2424033" cy="162464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在视频/音频播放过程中触发动画，需在"动画窗格"中精确调整动画开始时间与媒体时间轴的对应关系，可实现字幕同步、图表随解说动态呈现等高级效果。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eyJfdGVtcGxhdGVEYXRhIjp7ImNvbnRlbnRUeXBlIjoiJGl0ZW0yX2MiLCJsaW5lQ291bnQiOiI2Iiwid29yZENvdW50IjoiMTMifSwidGFnIjoiJGl0ZW0yX2MifQ==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3449091" y="2654367"/>
            <a:ext cx="2566988" cy="39088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媒体同步动画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9" name="AutoShape 9"/>
          <p:cNvSpPr/>
          <p:nvPr/>
        </p:nvSpPr>
        <p:spPr>
          <a:xfrm>
            <a:off x="6278374" y="2203899"/>
            <a:ext cx="2567128" cy="2938172"/>
          </a:xfrm>
          <a:prstGeom prst="rect">
            <a:avLst/>
          </a:prstGeom>
          <a:noFill/>
          <a:ln w="19050">
            <a:solidFill>
              <a:schemeClr val="accent5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6356570" y="2791118"/>
            <a:ext cx="2424033" cy="162464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除预设动画外，可自定义对象运动路径，通过绘制曲线或直线轨迹控制元素移动方向，适合制作产品演示中的部件分解动画或流程图中的动态指引。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eyJfdGVtcGxhdGVEYXRhIjp7ImNvbnRlbnRUeXBlIjoiJGl0ZW0zX2MiLCJsaW5lQ291bnQiOiI2Iiwid29yZENvdW50IjoiMTMifSwidGFnIjoiJGl0ZW0zX2MifQ==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6278445" y="2372302"/>
            <a:ext cx="2566988" cy="39088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5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路径动画定制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12" name="AutoShape 12"/>
          <p:cNvSpPr/>
          <p:nvPr/>
        </p:nvSpPr>
        <p:spPr>
          <a:xfrm>
            <a:off x="9110239" y="1900642"/>
            <a:ext cx="2567128" cy="2938172"/>
          </a:xfrm>
          <a:prstGeom prst="rect">
            <a:avLst/>
          </a:prstGeom>
          <a:noFill/>
          <a:ln w="19050">
            <a:solidFill>
              <a:schemeClr val="accent4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9186983" y="2487861"/>
            <a:ext cx="2424033" cy="1624641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在动画窗格中拖动时间条控制持续时间，右键设置延迟启动，配合"效果选项"中的平滑开始/结束参数，可创建更符合物理运动规律的动画效果。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eyJfdGVtcGxhdGVEYXRhIjp7ImNvbnRlbnRUeXBlIjoiJGl0ZW00X2MiLCJsaW5lQ291bnQiOiI2Iiwid29yZENvdW50IjoiMTMifSwidGFnIjoiJGl0ZW00X2MifQ==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9116859" y="2069044"/>
            <a:ext cx="2566988" cy="390881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4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动画时序调整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15" name="Freeform 15"/>
          <p:cNvSpPr/>
          <p:nvPr/>
        </p:nvSpPr>
        <p:spPr>
          <a:xfrm>
            <a:off x="1595751" y="2143516"/>
            <a:ext cx="593285" cy="59328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"/>
                </a:moveTo>
                <a:cubicBezTo>
                  <a:pt x="84011" y="28575"/>
                  <a:pt x="28575" y="84011"/>
                  <a:pt x="28575" y="152400"/>
                </a:cubicBezTo>
                <a:cubicBezTo>
                  <a:pt x="28575" y="220789"/>
                  <a:pt x="84011" y="276225"/>
                  <a:pt x="152400" y="276225"/>
                </a:cubicBezTo>
                <a:cubicBezTo>
                  <a:pt x="220789" y="276225"/>
                  <a:pt x="276225" y="220789"/>
                  <a:pt x="276225" y="152400"/>
                </a:cubicBezTo>
                <a:cubicBezTo>
                  <a:pt x="276225" y="84011"/>
                  <a:pt x="220789" y="28575"/>
                  <a:pt x="152400" y="28575"/>
                </a:cubicBezTo>
                <a:close/>
                <a:moveTo>
                  <a:pt x="169135" y="214655"/>
                </a:moveTo>
                <a:lnTo>
                  <a:pt x="145618" y="214655"/>
                </a:lnTo>
                <a:lnTo>
                  <a:pt x="145618" y="126025"/>
                </a:lnTo>
                <a:cubicBezTo>
                  <a:pt x="137036" y="134036"/>
                  <a:pt x="126911" y="139960"/>
                  <a:pt x="115253" y="143808"/>
                </a:cubicBezTo>
                <a:lnTo>
                  <a:pt x="115253" y="122530"/>
                </a:lnTo>
                <a:cubicBezTo>
                  <a:pt x="121387" y="120520"/>
                  <a:pt x="128054" y="116700"/>
                  <a:pt x="135245" y="111081"/>
                </a:cubicBezTo>
                <a:cubicBezTo>
                  <a:pt x="142437" y="105461"/>
                  <a:pt x="147371" y="98908"/>
                  <a:pt x="150057" y="91421"/>
                </a:cubicBezTo>
                <a:lnTo>
                  <a:pt x="169135" y="91421"/>
                </a:lnTo>
                <a:lnTo>
                  <a:pt x="169135" y="214655"/>
                </a:lnTo>
                <a:close/>
              </a:path>
            </a:pathLst>
          </a:custGeom>
          <a:solidFill>
            <a:schemeClr val="accent5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Freeform 16"/>
          <p:cNvSpPr/>
          <p:nvPr/>
        </p:nvSpPr>
        <p:spPr>
          <a:xfrm>
            <a:off x="4436947" y="1799104"/>
            <a:ext cx="591415" cy="591415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"/>
                </a:moveTo>
                <a:cubicBezTo>
                  <a:pt x="84011" y="28575"/>
                  <a:pt x="28575" y="84011"/>
                  <a:pt x="28575" y="152400"/>
                </a:cubicBezTo>
                <a:cubicBezTo>
                  <a:pt x="28575" y="220789"/>
                  <a:pt x="84011" y="276225"/>
                  <a:pt x="152400" y="276225"/>
                </a:cubicBezTo>
                <a:cubicBezTo>
                  <a:pt x="220789" y="276225"/>
                  <a:pt x="276225" y="220789"/>
                  <a:pt x="276225" y="152400"/>
                </a:cubicBezTo>
                <a:cubicBezTo>
                  <a:pt x="276225" y="84011"/>
                  <a:pt x="220789" y="28575"/>
                  <a:pt x="152400" y="28575"/>
                </a:cubicBezTo>
                <a:close/>
                <a:moveTo>
                  <a:pt x="193758" y="194558"/>
                </a:moveTo>
                <a:lnTo>
                  <a:pt x="193758" y="216437"/>
                </a:lnTo>
                <a:lnTo>
                  <a:pt x="111309" y="216437"/>
                </a:lnTo>
                <a:cubicBezTo>
                  <a:pt x="112195" y="208178"/>
                  <a:pt x="114871" y="200358"/>
                  <a:pt x="119339" y="192957"/>
                </a:cubicBezTo>
                <a:cubicBezTo>
                  <a:pt x="123796" y="185566"/>
                  <a:pt x="132607" y="175746"/>
                  <a:pt x="145761" y="163525"/>
                </a:cubicBezTo>
                <a:cubicBezTo>
                  <a:pt x="156343" y="153648"/>
                  <a:pt x="162839" y="146952"/>
                  <a:pt x="165240" y="143437"/>
                </a:cubicBezTo>
                <a:cubicBezTo>
                  <a:pt x="168478" y="138579"/>
                  <a:pt x="170097" y="133779"/>
                  <a:pt x="170097" y="129035"/>
                </a:cubicBezTo>
                <a:cubicBezTo>
                  <a:pt x="170097" y="123787"/>
                  <a:pt x="168697" y="119748"/>
                  <a:pt x="165897" y="116929"/>
                </a:cubicBezTo>
                <a:cubicBezTo>
                  <a:pt x="163097" y="114110"/>
                  <a:pt x="159229" y="112700"/>
                  <a:pt x="154286" y="112700"/>
                </a:cubicBezTo>
                <a:cubicBezTo>
                  <a:pt x="149409" y="112700"/>
                  <a:pt x="145523" y="114186"/>
                  <a:pt x="142637" y="117148"/>
                </a:cubicBezTo>
                <a:cubicBezTo>
                  <a:pt x="139751" y="120110"/>
                  <a:pt x="138084" y="125025"/>
                  <a:pt x="137655" y="131902"/>
                </a:cubicBezTo>
                <a:lnTo>
                  <a:pt x="114138" y="129550"/>
                </a:lnTo>
                <a:cubicBezTo>
                  <a:pt x="115529" y="116605"/>
                  <a:pt x="119901" y="107309"/>
                  <a:pt x="127264" y="101660"/>
                </a:cubicBezTo>
                <a:cubicBezTo>
                  <a:pt x="134626" y="96012"/>
                  <a:pt x="143828" y="93202"/>
                  <a:pt x="154867" y="93202"/>
                </a:cubicBezTo>
                <a:cubicBezTo>
                  <a:pt x="166964" y="93202"/>
                  <a:pt x="176470" y="96469"/>
                  <a:pt x="183385" y="102994"/>
                </a:cubicBezTo>
                <a:cubicBezTo>
                  <a:pt x="190300" y="109518"/>
                  <a:pt x="193758" y="117643"/>
                  <a:pt x="193758" y="127349"/>
                </a:cubicBezTo>
                <a:cubicBezTo>
                  <a:pt x="193758" y="132874"/>
                  <a:pt x="192767" y="138132"/>
                  <a:pt x="190786" y="143123"/>
                </a:cubicBezTo>
                <a:cubicBezTo>
                  <a:pt x="188805" y="148114"/>
                  <a:pt x="185671" y="153353"/>
                  <a:pt x="181375" y="158810"/>
                </a:cubicBezTo>
                <a:cubicBezTo>
                  <a:pt x="178527" y="162430"/>
                  <a:pt x="173384" y="167659"/>
                  <a:pt x="165935" y="174469"/>
                </a:cubicBezTo>
                <a:cubicBezTo>
                  <a:pt x="158496" y="181270"/>
                  <a:pt x="153781" y="185785"/>
                  <a:pt x="151800" y="188014"/>
                </a:cubicBezTo>
                <a:cubicBezTo>
                  <a:pt x="149819" y="190243"/>
                  <a:pt x="148219" y="192424"/>
                  <a:pt x="146990" y="194548"/>
                </a:cubicBezTo>
                <a:lnTo>
                  <a:pt x="193758" y="194548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7" name="Freeform 17"/>
          <p:cNvSpPr/>
          <p:nvPr/>
        </p:nvSpPr>
        <p:spPr>
          <a:xfrm>
            <a:off x="7190494" y="1511734"/>
            <a:ext cx="579159" cy="57915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28575"/>
                </a:moveTo>
                <a:cubicBezTo>
                  <a:pt x="84011" y="28575"/>
                  <a:pt x="28575" y="84011"/>
                  <a:pt x="28575" y="152400"/>
                </a:cubicBezTo>
                <a:cubicBezTo>
                  <a:pt x="28575" y="220789"/>
                  <a:pt x="84011" y="276225"/>
                  <a:pt x="152400" y="276225"/>
                </a:cubicBezTo>
                <a:cubicBezTo>
                  <a:pt x="220789" y="276225"/>
                  <a:pt x="276225" y="220789"/>
                  <a:pt x="276225" y="152400"/>
                </a:cubicBezTo>
                <a:cubicBezTo>
                  <a:pt x="276225" y="84011"/>
                  <a:pt x="220789" y="28575"/>
                  <a:pt x="152400" y="28575"/>
                </a:cubicBezTo>
                <a:close/>
                <a:moveTo>
                  <a:pt x="180927" y="203425"/>
                </a:moveTo>
                <a:cubicBezTo>
                  <a:pt x="173060" y="211017"/>
                  <a:pt x="163268" y="214798"/>
                  <a:pt x="151533" y="214798"/>
                </a:cubicBezTo>
                <a:cubicBezTo>
                  <a:pt x="140427" y="214798"/>
                  <a:pt x="131216" y="211607"/>
                  <a:pt x="123911" y="205226"/>
                </a:cubicBezTo>
                <a:cubicBezTo>
                  <a:pt x="116586" y="198844"/>
                  <a:pt x="112347" y="190510"/>
                  <a:pt x="111176" y="180203"/>
                </a:cubicBezTo>
                <a:lnTo>
                  <a:pt x="133950" y="177451"/>
                </a:lnTo>
                <a:cubicBezTo>
                  <a:pt x="134674" y="183232"/>
                  <a:pt x="136627" y="187652"/>
                  <a:pt x="139817" y="190719"/>
                </a:cubicBezTo>
                <a:cubicBezTo>
                  <a:pt x="142989" y="193777"/>
                  <a:pt x="146847" y="195310"/>
                  <a:pt x="151371" y="195310"/>
                </a:cubicBezTo>
                <a:cubicBezTo>
                  <a:pt x="156229" y="195310"/>
                  <a:pt x="160315" y="193462"/>
                  <a:pt x="163649" y="189767"/>
                </a:cubicBezTo>
                <a:cubicBezTo>
                  <a:pt x="166964" y="186080"/>
                  <a:pt x="168621" y="181108"/>
                  <a:pt x="168621" y="174850"/>
                </a:cubicBezTo>
                <a:cubicBezTo>
                  <a:pt x="168621" y="168935"/>
                  <a:pt x="167030" y="164230"/>
                  <a:pt x="163849" y="160763"/>
                </a:cubicBezTo>
                <a:cubicBezTo>
                  <a:pt x="160658" y="157296"/>
                  <a:pt x="156782" y="155572"/>
                  <a:pt x="152200" y="155572"/>
                </a:cubicBezTo>
                <a:cubicBezTo>
                  <a:pt x="149181" y="155572"/>
                  <a:pt x="145580" y="156162"/>
                  <a:pt x="141380" y="157324"/>
                </a:cubicBezTo>
                <a:lnTo>
                  <a:pt x="143970" y="138303"/>
                </a:lnTo>
                <a:cubicBezTo>
                  <a:pt x="150333" y="138474"/>
                  <a:pt x="155191" y="137093"/>
                  <a:pt x="158534" y="134169"/>
                </a:cubicBezTo>
                <a:cubicBezTo>
                  <a:pt x="161877" y="131245"/>
                  <a:pt x="163544" y="127359"/>
                  <a:pt x="163544" y="122511"/>
                </a:cubicBezTo>
                <a:cubicBezTo>
                  <a:pt x="163544" y="118386"/>
                  <a:pt x="162325" y="115110"/>
                  <a:pt x="159877" y="112652"/>
                </a:cubicBezTo>
                <a:cubicBezTo>
                  <a:pt x="157420" y="110204"/>
                  <a:pt x="154172" y="108976"/>
                  <a:pt x="150114" y="108976"/>
                </a:cubicBezTo>
                <a:cubicBezTo>
                  <a:pt x="146104" y="108976"/>
                  <a:pt x="142694" y="110366"/>
                  <a:pt x="139856" y="113147"/>
                </a:cubicBezTo>
                <a:cubicBezTo>
                  <a:pt x="137017" y="115929"/>
                  <a:pt x="135293" y="120005"/>
                  <a:pt x="134674" y="125349"/>
                </a:cubicBezTo>
                <a:lnTo>
                  <a:pt x="112947" y="121672"/>
                </a:lnTo>
                <a:cubicBezTo>
                  <a:pt x="114452" y="114224"/>
                  <a:pt x="116729" y="108271"/>
                  <a:pt x="119777" y="103813"/>
                </a:cubicBezTo>
                <a:cubicBezTo>
                  <a:pt x="122825" y="99355"/>
                  <a:pt x="127063" y="95860"/>
                  <a:pt x="132502" y="93307"/>
                </a:cubicBezTo>
                <a:cubicBezTo>
                  <a:pt x="137941" y="90754"/>
                  <a:pt x="144047" y="89487"/>
                  <a:pt x="150800" y="89487"/>
                </a:cubicBezTo>
                <a:cubicBezTo>
                  <a:pt x="162354" y="89487"/>
                  <a:pt x="171621" y="93174"/>
                  <a:pt x="178594" y="100546"/>
                </a:cubicBezTo>
                <a:cubicBezTo>
                  <a:pt x="184347" y="106575"/>
                  <a:pt x="187214" y="113386"/>
                  <a:pt x="187214" y="120977"/>
                </a:cubicBezTo>
                <a:cubicBezTo>
                  <a:pt x="187214" y="131750"/>
                  <a:pt x="181318" y="140351"/>
                  <a:pt x="169516" y="146771"/>
                </a:cubicBezTo>
                <a:cubicBezTo>
                  <a:pt x="176555" y="148276"/>
                  <a:pt x="182185" y="151657"/>
                  <a:pt x="186395" y="156896"/>
                </a:cubicBezTo>
                <a:cubicBezTo>
                  <a:pt x="190614" y="162144"/>
                  <a:pt x="192719" y="168469"/>
                  <a:pt x="192719" y="175889"/>
                </a:cubicBezTo>
                <a:cubicBezTo>
                  <a:pt x="192729" y="186671"/>
                  <a:pt x="188795" y="195844"/>
                  <a:pt x="180927" y="203425"/>
                </a:cubicBezTo>
                <a:close/>
              </a:path>
            </a:pathLst>
          </a:custGeom>
          <a:solidFill>
            <a:schemeClr val="accent5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Freeform 18"/>
          <p:cNvSpPr/>
          <p:nvPr/>
        </p:nvSpPr>
        <p:spPr>
          <a:xfrm>
            <a:off x="10110317" y="1252224"/>
            <a:ext cx="566973" cy="56697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5819" y="167478"/>
                </a:moveTo>
                <a:lnTo>
                  <a:pt x="155819" y="125520"/>
                </a:lnTo>
                <a:lnTo>
                  <a:pt x="127521" y="167478"/>
                </a:lnTo>
                <a:lnTo>
                  <a:pt x="155819" y="167478"/>
                </a:lnTo>
                <a:close/>
                <a:moveTo>
                  <a:pt x="152400" y="28575"/>
                </a:moveTo>
                <a:cubicBezTo>
                  <a:pt x="84011" y="28575"/>
                  <a:pt x="28575" y="84011"/>
                  <a:pt x="28575" y="152400"/>
                </a:cubicBezTo>
                <a:cubicBezTo>
                  <a:pt x="28575" y="220789"/>
                  <a:pt x="84011" y="276225"/>
                  <a:pt x="152400" y="276225"/>
                </a:cubicBezTo>
                <a:cubicBezTo>
                  <a:pt x="220789" y="276225"/>
                  <a:pt x="276225" y="220789"/>
                  <a:pt x="276225" y="152400"/>
                </a:cubicBezTo>
                <a:cubicBezTo>
                  <a:pt x="276225" y="84011"/>
                  <a:pt x="220789" y="28575"/>
                  <a:pt x="152400" y="28575"/>
                </a:cubicBezTo>
                <a:close/>
                <a:moveTo>
                  <a:pt x="193777" y="188014"/>
                </a:moveTo>
                <a:lnTo>
                  <a:pt x="178594" y="188014"/>
                </a:lnTo>
                <a:lnTo>
                  <a:pt x="178594" y="212731"/>
                </a:lnTo>
                <a:lnTo>
                  <a:pt x="155819" y="212731"/>
                </a:lnTo>
                <a:lnTo>
                  <a:pt x="155819" y="188014"/>
                </a:lnTo>
                <a:lnTo>
                  <a:pt x="105518" y="188014"/>
                </a:lnTo>
                <a:lnTo>
                  <a:pt x="105518" y="167564"/>
                </a:lnTo>
                <a:lnTo>
                  <a:pt x="158839" y="89497"/>
                </a:lnTo>
                <a:lnTo>
                  <a:pt x="178594" y="89497"/>
                </a:lnTo>
                <a:lnTo>
                  <a:pt x="178594" y="167478"/>
                </a:lnTo>
                <a:lnTo>
                  <a:pt x="193777" y="167478"/>
                </a:lnTo>
                <a:lnTo>
                  <a:pt x="193777" y="188014"/>
                </a:lnTo>
                <a:close/>
              </a:path>
            </a:pathLst>
          </a:custGeom>
          <a:solidFill>
            <a:schemeClr val="accent4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cxnSp>
        <p:nvCxnSpPr>
          <p:cNvPr id="19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KqOeUu+aViOaenOiuvue9rlxuIyMjIOWNleWHu+inpuWPkeWKqOeUu1xu6YCa6L+HXCLliqjnlLs+6auY57qn5Yqo55S7Pua3u+WKoOWKqOeUu1wi6YCJ5oup5pWI5p6c77yM5Zyo5Yqo55S756qX5qC85Lit6K6+572u5a+56LGh5Li66Kem5Y+R5Zmo77yM5a6e546w54K55Ye754m55a6a5YWD57Sg5pe25ZCv5Yqo5Yqo55S755qE5Lqk5LqS5pWI5p6c77yM6YCC5ZCI5by66LCD6YeN54K55YaF5a655oiW5YiG5q2l5bGV56S65aSN5p2C5L+h5oGv44CCXG4jIyMg5aqS5L2T5ZCM5q2l5Yqo55S7XG7lnKjop4bpopEv6Z+z6aKR5pKt5pS+6L+H56iL5Lit6Kem5Y+R5Yqo55S777yM6ZyA5ZyoXCLliqjnlLvnqpfmoLxcIuS4reeyvuehruiwg+aVtOWKqOeUu+W8gOWni+aXtumXtOS4juWqkuS9k+aXtumXtOi9tOeahOWvueW6lOWFs+ezu++8jOWPr+WunueOsOWtl+W5leWQjOatpeOAgeWbvuihqOmaj+ino+ivtOWKqOaAgeWRiOeOsOetiemrmOe6p+aViOaenOOAglxuIyMjIOi3r+W+hOWKqOeUu+WumuWItlxu6Zmk6aKE6K6+5Yqo55S75aSW77yM5Y+v6Ieq5a6a5LmJ5a+56LGh6L+Q5Yqo6Lev5b6E77yM6YCa6L+H57uY5Yi25puy57q/5oiW55u057q/6L2o6L+55o6n5Yi25YWD57Sg56e75Yqo5pa55ZCR77yM6YCC5ZCI5Yi25L2c5Lqn5ZOB5ryU56S65Lit55qE6YOo5Lu25YiG6Kej5Yqo55S75oiW5rWB56iL5Zu+5Lit55qE5Yqo5oCB5oyH5byV44CCXG4jIyMg5Yqo55S75pe25bqP6LCD5pW0XG7lnKjliqjnlLvnqpfmoLzkuK3mi5bliqjml7bpl7TmnaHmjqfliLbmjIHnu63ml7bpl7TvvIzlj7PplK7orr7nva7lu7bov5/lkK/liqjvvIzphY3lkIhcIuaViOaenOmAiemhuVwi5Lit55qE5bmz5ruR5byA5aeLL+e7k+adn+WPguaVsO+8jOWPr+WIm+W7uuabtOespuWQiOeJqeeQhui/kOWKqOinhOW+i+eahOWKqOeUu+aViOaenOOAgiIsInRwbGlkIjoiMTM3IiwidHBsTmFtZSI6Imxpc3Q0XzIwMjUwNzAzMTQiLCJlZGl0ZWQiOiJmYWxzZSJ9</bd:templateData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演示文稿放映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/>
          </a:blip>
          <a:srcRect l="16402" r="16402"/>
          <a:stretch>
            <a:fillRect/>
          </a:stretch>
        </p:blipFill>
        <p:spPr>
          <a:xfrm>
            <a:off x="7833544" y="3730249"/>
            <a:ext cx="3737851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演讲者视图模式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099978" y="2110737"/>
            <a:ext cx="3431205" cy="1270638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使用双屏显示时，主讲端可查看备注、预览下一页内容及掌握计时，而观众端仅显示当前幻灯片，确保演讲流畅不中断。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eyJfdGVtcGxhdGVEYXRhIjp7ImNvbnRlbnRUeXBlIjoiJGl0ZW0xX2MiLCJsaW5lQ291bnQiOiI0Iiwid29yZENvdW50IjoiMTgifSwidGFnIjoiJGl0ZW0xX2MifQ==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快捷键高效控制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099978" y="4470242"/>
            <a:ext cx="3431205" cy="1276624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放映时按B/W键黑屏/白屏暂停展示，数字+Enter跳转指定页，Ctrl+P切换画笔工具进行实时标注，这些专业操作能显著提升演示的互动性和灵活性。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eyJfdGVtcGxhdGVEYXRhIjp7ImNvbnRlbnRUeXBlIjoiJGl0ZW0zX2MiLCJsaW5lQ291bnQiOiI0Iiwid29yZENvdW50IjoiMTgifSwidGFnIjoiJGl0ZW0zX2MifQ==</bd:templateData>
          </p:ext>
        </p:extLst>
      </p:sp>
      <p:sp>
        <p:nvSpPr>
          <p:cNvPr id="13" name="AutoShape 13"/>
          <p:cNvSpPr/>
          <p:nvPr/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自定义放映设置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7996869" y="2110737"/>
            <a:ext cx="3431205" cy="1270638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通过"幻灯片放映&gt;自定义幻灯片放映"选择特定幻灯片组成子集，针对不同听众快速切换展示内容，避免临时查找页面的尴尬。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8lOekuuaWh+eov+aUvuaYoFxuIyMjIOa8lOiusuiAheinhuWbvuaooeW8j1xu5L2/55So5Y+M5bGP5pi+56S65pe277yM5Li76K6y56uv5Y+v5p+l55yL5aSH5rOo44CB6aKE6KeI5LiL5LiA6aG15YaF5a655Y+K5o6M5o+h6K6h5pe277yM6ICM6KeC5LyX56uv5LuF5pi+56S65b2T5YmN5bm754Gv54mH77yM56Gu5L+d5ryU6K6y5rWB55WF5LiN5Lit5pat44CCXG4jIyMg6Ieq5a6a5LmJ5pS+5pig6K6+572uXG7pgJrov4dcIuW5u+eBr+eJh+aUvuaYoD7oh6rlrprkuYnlubvnga/niYfmlL7mmKBcIumAieaLqeeJueWumuW5u+eBr+eJh+e7hOaIkOWtkOmbhu+8jOmSiOWvueS4jeWQjOWQrOS8l+W/q+mAn+WIh+aNouWxleekuuWGheWuue+8jOmBv+WFjeS4tOaXtuafpeaJvumhtemdoueahOWwtOWwrOOAglxuIyMjIOW/q+aNt+mUrumrmOaViOaOp+WItlxu5pS+5pig5pe25oyJQi9X6ZSu6buR5bGPL+eZveWxj+aaguWBnOWxleekuu+8jOaVsOWtlytFbnRlcui3s+i9rOaMh+Wumumhte+8jEN0cmwrUOWIh+aNoueUu+eslOW3peWFt+i/m+ihjOWunuaXtuagh+azqO+8jOi/meS6m+S4k+S4muaTjeS9nOiDveaYvuiRl+aPkOWNh+a8lOekuueahOS6kuWKqOaAp+WSjOeBtea0u+aAp+OAgiIsInRwbGlkIjoiMTM3IiwidHBsTmFtZSI6Imxpc3QzXzIwMjUwNzAxMDIiLCJlZGl0ZWQiOiJmYWxzZSJ9</bd:templateData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169" y="2514394"/>
            <a:ext cx="6164285" cy="175221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Office协同办公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673160" y="1704797"/>
            <a:ext cx="1868805" cy="7581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</a:rPr>
              <a:t>PART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544494" y="1514414"/>
            <a:ext cx="971706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eyJtZCI6IiMjIE9mZmljZeWNj+WQjOWKnuWFrCIsInRwbGlkIjoiMTM3IiwidHBsTmFtZSI6ImgydGl0bGVfMTM3a2FpeHVlIiwiZWRpdGVkIjoiZmFsc2UifQ==</bd:templateData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文档共享与协作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32636" r="32636"/>
          <a:stretch>
            <a:fillRect/>
          </a:stretch>
        </p:blipFill>
        <p:spPr>
          <a:xfrm>
            <a:off x="580909" y="1271253"/>
            <a:ext cx="2628508" cy="504477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AutoShape 4"/>
          <p:cNvSpPr/>
          <p:nvPr/>
        </p:nvSpPr>
        <p:spPr>
          <a:xfrm>
            <a:off x="3372015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3512796" y="2561882"/>
            <a:ext cx="2346946" cy="31482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通过Word网页版或桌面应用实现多人同步编辑，所有协作者的修改会即时显示在文档中，并可通过彩色光标标记查看他人编辑位置，大幅提升团队协作效率。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eyJfdGVtcGxhdGVEYXRhIjp7ImNvbnRlbnRUeXBlIjoiJGl0ZW0xX2MiLCJsaW5lQ291bnQiOiIxMCIsIndvcmRDb3VudCI6IjExIn0sInRhZyI6IiRpdGVtMV9jIn0=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3512796" y="1399982"/>
            <a:ext cx="2346946" cy="11048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实时共同创作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eyJfdGVtcGxhdGVEYXRhIjp7ImNvbnRlbnRUeXBlIjoiJGl0ZW0xX3RpdGxlIiwibGluZUNvdW50IjoiMiIsIndvcmRDb3VudCI6IjUifSwidGFnIjoiJGl0ZW0xX3RpdGxlIn0=</bd:templateData>
          </p:ext>
        </p:extLst>
      </p:sp>
      <p:sp>
        <p:nvSpPr>
          <p:cNvPr id="7" name="AutoShape 7"/>
          <p:cNvSpPr/>
          <p:nvPr/>
        </p:nvSpPr>
        <p:spPr>
          <a:xfrm>
            <a:off x="6156270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6297050" y="2561882"/>
            <a:ext cx="2346946" cy="301516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共享时可设置"可编辑"或"仅查看"权限，通过下拉菜单选择特定人员或生成共享链接，确保文档安全性的同时实现灵活协作。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eyJfdGVtcGxhdGVEYXRhIjp7ImNvbnRlbnRUeXBlIjoiJGl0ZW0yX2MiLCJsaW5lQ291bnQiOiIxMCIsIndvcmRDb3VudCI6IjExIn0sInRhZyI6IiRpdGVtMl9jIn0=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6297050" y="1399982"/>
            <a:ext cx="2346946" cy="11048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权限精细控制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eyJfdGVtcGxhdGVEYXRhIjp7ImNvbnRlbnRUeXBlIjoiJGl0ZW0yX3RpdGxlIiwibGluZUNvdW50IjoiMiIsIndvcmRDb3VudCI6IjUifSwidGFnIjoiJGl0ZW0yX3RpdGxlIn0=</bd:templateData>
          </p:ext>
        </p:extLst>
      </p:sp>
      <p:sp>
        <p:nvSpPr>
          <p:cNvPr id="10" name="AutoShape 10"/>
          <p:cNvSpPr/>
          <p:nvPr/>
        </p:nvSpPr>
        <p:spPr>
          <a:xfrm>
            <a:off x="8949764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9090545" y="2561882"/>
            <a:ext cx="2346946" cy="31482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支持文档内聊天功能和批注系统，协作者可直接在文件界面进行讨论，批注面板会集中显示所有评论内容，实现编辑与沟通的无缝衔接。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eyJfdGVtcGxhdGVEYXRhIjp7ImNvbnRlbnRUeXBlIjoiJGl0ZW0zX2MiLCJsaW5lQ291bnQiOiIxMCIsIndvcmRDb3VudCI6IjExIn0sInRhZyI6IiRpdGVtM19jIn0=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9090545" y="1399982"/>
            <a:ext cx="2346946" cy="110481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沟通集成机制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eyJfdGVtcGxhdGVEYXRhIjp7ImNvbnRlbnRUeXBlIjoiJGl0ZW0zX3RpdGxlIiwibGluZUNvdW50IjoiMiIsIndvcmRDb3VudCI6IjUifSwidGFnIjoiJGl0ZW0zX3RpdGxlIn0=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Wh+aho+WFseS6q+S4juWNj+S9nFxuIyMjIOWunuaXtuWFseWQjOWIm+S9nFxu6YCa6L+HV29yZOe9kemhteeJiOaIluahjOmdouW6lOeUqOWunueOsOWkmuS6uuWQjOatpee8lui+ke+8jOaJgOacieWNj+S9nOiAheeahOS/ruaUueS8muWNs+aXtuaYvuekuuWcqOaWh+aho+S4re+8jOW5tuWPr+mAmui/h+W9qeiJsuWFieagh+agh+iusOafpeeci+S7luS6uue8lui+keS9jee9ru+8jOWkp+W5heaPkOWNh+WboumYn+WNj+S9nOaViOeOh+OAglxuIyMjIOadg+mZkOeyvue7huaOp+WItlxu5YWx5Lqr5pe25Y+v6K6+572uXCLlj6/nvJbovpFcIuaIllwi5LuF5p+l55yLXCLmnYPpmZDvvIzpgJrov4fkuIvmi4noj5zljZXpgInmi6nnibnlrprkurrlkZjmiJbnlJ/miJDlhbHkuqvpk77mjqXvvIznoa7kv53mlofmoaPlronlhajmgKfnmoTlkIzml7blrp7njrDngbXmtLvljY/kvZzjgIJcbiMjIyDmsp/pgJrpm4bmiJDmnLrliLZcbuaUr+aMgeaWh+aho+WGheiBiuWkqeWKn+iDveWSjOaJueazqOezu+e7n++8jOWNj+S9nOiAheWPr+ebtOaOpeWcqOaWh+S7tueVjOmdoui/m+ihjOiuqOiuuu+8jOaJueazqOmdouadv+S8mumbhuS4reaYvuekuuaJgOacieivhOiuuuWGheWuue+8jOWunueOsOe8lui+keS4juayn+mAmueahOaXoOe8neihlOaOpeOAgiIsInRwbGlkIjoiMTM3IiwidHBsTmFtZSI6Imxpc3QzX2ltZzE4IiwiZWRpdGVkIjoiZmFsc2UifQ==</bd:templateData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675" r="16675"/>
          <a:stretch>
            <a:fillRect/>
          </a:stretch>
        </p:blipFill>
        <p:spPr>
          <a:xfrm>
            <a:off x="4070039" y="1545914"/>
            <a:ext cx="3861422" cy="3861422"/>
          </a:xfrm>
          <a:prstGeom prst="diamond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云存储应用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216800" y="2101906"/>
            <a:ext cx="3905833" cy="1262464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作为Microsoft 365官方云存储，提供文件版本历史记录、回收站保留机制和智能同步技术，确保文档安全且可追溯。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eyJfdGVtcGxhdGVEYXRhIjp7ImNvbnRlbnRUeXBlIjoiJGl0ZW0xX2MiLCJsaW5lQ291bnQiOiI0Iiwid29yZENvdW50IjoiMjAifSwidGFnIjoiJGl0ZW0xX2MifQ==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216800" y="1629875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OneDrive核心功能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7988535" y="2168441"/>
            <a:ext cx="3905833" cy="1129392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支持Box、Dropbox等主流云服务接入，在移动端Office应用中可直接调用iOS文档选取器或Android存储访问框架打开第三方文件。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eyJfdGVtcGxhdGVEYXRhIjp7ImNvbnRlbnRUeXBlIjoiJGl0ZW0yX2MiLCJsaW5lQ291bnQiOiIzIiwid29yZENvdW50IjoiMjAifSwidGFnIjoiJGl0ZW0yX2MifQ==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7988535" y="5135789"/>
            <a:ext cx="3905833" cy="114317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计算机本地文件可自动同步至OneDrive云存储，形成双重备份，网页版提供批量上传功能支持文件夹整体传输。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eyJfdGVtcGxhdGVEYXRhIjp7ImNvbnRlbnRUeXBlIjoiJGl0ZW00X2MiLCJsaW5lQ291bnQiOiIzIiwid29yZENvdW50IjoiMjAifSwidGFnIjoiJGl0ZW00X2MifQ==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7988535" y="1629875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第三方存储兼容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eyJfdGVtcGxhdGVEYXRhIjp7ImNvbnRlbnRUeXBlIjoiJGl0ZW0yX3RpdGxlIiwibGluZUNvdW50IjoiMSIsIndvcmRDb3VudCI6IjEyIn0sInRhZyI6IiRpdGVtMl90aXRsZSJ9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156774" y="5164364"/>
            <a:ext cx="3905833" cy="114317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通过导航窗格可快速访问Teams和SharePoint共享库文件，"最近"和"发现"板块智能推荐协作相关文档。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eyJfdGVtcGxhdGVEYXRhIjp7ImNvbnRlbnRUeXBlIjoiJGl0ZW0zX2MiLCJsaW5lQ291bnQiOiIzIiwid29yZENvdW50IjoiMjAifSwidGFnIjoiJGl0ZW0zX2MifQ==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77362" y="4706621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共享库管理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eyJfdGVtcGxhdGVEYXRhIjp7ImNvbnRlbnRUeXBlIjoiJGl0ZW0zX3RpdGxlIiwibGluZUNvdW50IjoiMSIsIndvcmRDb3VudCI6IjEyIn0sInRhZyI6IiRpdGVtM190aXRsZSJ9</bd:templateData>
          </p:ext>
        </p:extLst>
      </p:sp>
      <p:sp>
        <p:nvSpPr>
          <p:cNvPr id="11" name="AutoShape 11"/>
          <p:cNvSpPr/>
          <p:nvPr/>
        </p:nvSpPr>
        <p:spPr>
          <a:xfrm>
            <a:off x="4364358" y="1629875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170154" y="1730269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3" name="AutoShape 13"/>
          <p:cNvSpPr/>
          <p:nvPr/>
        </p:nvSpPr>
        <p:spPr>
          <a:xfrm>
            <a:off x="7178908" y="1629875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6984704" y="1730269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5" name="AutoShape 15"/>
          <p:cNvSpPr/>
          <p:nvPr/>
        </p:nvSpPr>
        <p:spPr>
          <a:xfrm>
            <a:off x="7139471" y="4678046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6945267" y="4778440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7" name="AutoShape 17"/>
          <p:cNvSpPr/>
          <p:nvPr/>
        </p:nvSpPr>
        <p:spPr>
          <a:xfrm>
            <a:off x="4324921" y="4678046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4130717" y="4778440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eyJfdGVtcGxhdGVEYXRhIjp7ImxpbmVDb3VudCI6IjEiLCJ3b3JkQ291bnQiOiIyIn0sInRhZyI6Im5vRWRpdCJ9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7988535" y="4706621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安全备份策略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eyJfdGVtcGxhdGVEYXRhIjp7ImNvbnRlbnRUeXBlIjoiJGl0ZW00X3RpdGxlIiwibGluZUNvdW50IjoiMSIsIndvcmRDb3VudCI6IjEyIn0sInRhZyI6IiRpdGVtNF90aXRsZSJ9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S6keWtmOWCqOW6lOeUqFxuIyMjIE9uZURyaXZl5qC45b+D5Yqf6IO9XG7kvZzkuLpNaWNyb3NvZnQgMzY15a6Y5pa55LqR5a2Y5YKo77yM5o+Q5L6b5paH5Lu254mI5pys5Y6G5Y+y6K6w5b2V44CB5Zue5pS256uZ5L+d55WZ5py65Yi25ZKM5pm66IO95ZCM5q2l5oqA5pyv77yM56Gu5L+d5paH5qGj5a6J5YWo5LiU5Y+v6L+95rqv44CCXG4jIyMg56ys5LiJ5pa55a2Y5YKo5YW85a65XG7mlK/mjIFCb3jjgIFEcm9wYm94562J5Li75rWB5LqR5pyN5Yqh5o6l5YWl77yM5Zyo56e75Yqo56uvT2ZmaWNl5bqU55So5Lit5Y+v55u05o6l6LCD55SoaU9T5paH5qGj6YCJ5Y+W5Zmo5oiWQW5kcm9pZOWtmOWCqOiuv+mXruahhuaetuaJk+W8gOesrOS4ieaWueaWh+S7tuOAglxuIyMjIOWFseS6q+W6k+euoeeQhlxu6YCa6L+H5a+86Iiq56qX5qC85Y+v5b+r6YCf6K6/6ZeuVGVhbXPlkoxTaGFyZVBvaW505YWx5Lqr5bqT5paH5Lu277yMXCLmnIDov5FcIuWSjFwi5Y+R546wXCLmnb/lnZfmmbrog73mjqjojZDljY/kvZznm7jlhbPmlofmoaPjgIJcbiMjIyDlronlhajlpIfku73nrZbnlaVcbuiuoeeul+acuuacrOWcsOaWh+S7tuWPr+iHquWKqOWQjOatpeiHs09uZURyaXZl5LqR5a2Y5YKo77yM5b2i5oiQ5Y+M6YeN5aSH5Lu977yM572R6aG154mI5o+Q5L6b5om56YeP5LiK5Lyg5Yqf6IO95pSv5oyB5paH5Lu25aS55pW05L2T5Lyg6L6T44CCIiwidHBsaWQiOiIxMzciLCJ0cGxOYW1lIjoibGlzdDRfSW1nNSIsImVkaXRlZCI6ImZhbHNlIn0=</bd:templateData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多平台同步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13834" r="13834"/>
          <a:stretch>
            <a:fillRect/>
          </a:stretch>
        </p:blipFill>
        <p:spPr>
          <a:xfrm>
            <a:off x="8488800" y="1777403"/>
            <a:ext cx="3049996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/>
          </a:blip>
          <a:srcRect l="14356" r="14356"/>
          <a:stretch>
            <a:fillRect/>
          </a:stretch>
        </p:blipFill>
        <p:spPr>
          <a:xfrm>
            <a:off x="5335151" y="1777403"/>
            <a:ext cx="3005958" cy="4216695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5" name="AutoShape 5"/>
          <p:cNvSpPr/>
          <p:nvPr/>
        </p:nvSpPr>
        <p:spPr>
          <a:xfrm>
            <a:off x="5335151" y="1339414"/>
            <a:ext cx="6203645" cy="292757"/>
          </a:xfrm>
          <a:prstGeom prst="roundRect">
            <a:avLst>
              <a:gd name="adj" fmla="val 45454"/>
            </a:avLst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720401" y="1296052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跨设备连续性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609373" y="1732534"/>
            <a:ext cx="4282862" cy="983867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通过Office网页版实现浏览器即开即用，配合桌面应用切换功能，可在不同设备间保持完全一致的编辑界面和工作进度。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eyJfdGVtcGxhdGVEYXRhIjp7ImNvbnRlbnRUeXBlIjoiJGl0ZW0xX2MiLCJsaW5lQ291bnQiOiIzIiwid29yZENvdW50IjoiMjIifSwidGFnIjoiJGl0ZW0xX2MifQ==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609373" y="3369312"/>
            <a:ext cx="4282862" cy="1010481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使用Microsoft 365账户登录所有平台，文档权限和访问记录实时同步，移动端支持离线编辑后自动同步更新。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eyJfdGVtcGxhdGVEYXRhIjp7ImNvbnRlbnRUeXBlIjoiJGl0ZW0yX2MiLCJsaW5lQ291bnQiOiIzIiwid29yZENvdW50IjoiMjIifSwidGFnIjoiJGl0ZW0yX2MifQ==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609373" y="5010231"/>
            <a:ext cx="4282862" cy="1156860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基于云存储的自动保存机制确保各终端始终获取最新版本，修改冲突时系统会提示版本差异并提供合并选项。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eyJfdGVtcGxhdGVEYXRhIjp7ImNvbnRlbnRUeXBlIjoiJGl0ZW0zX2MiLCJsaW5lQ291bnQiOiIzIiwid29yZENvdW50IjoiMjIifSwidGFnIjoiJGl0ZW0zX2MifQ==</bd:templateData>
          </p:ext>
        </p:extLst>
      </p:sp>
      <p:sp>
        <p:nvSpPr>
          <p:cNvPr id="10" name="AutoShape 10"/>
          <p:cNvSpPr/>
          <p:nvPr/>
        </p:nvSpPr>
        <p:spPr>
          <a:xfrm>
            <a:off x="701351" y="2916535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统一账户体系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1" name="AutoShape 11"/>
          <p:cNvSpPr/>
          <p:nvPr/>
        </p:nvSpPr>
        <p:spPr>
          <a:xfrm>
            <a:off x="720401" y="4528880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版本一致性保障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kmuW5s+WPsOWQjOatpVxuIyMjIOi3qOiuvuWkh+i/nue7reaAp1xu6YCa6L+HT2ZmaWNl572R6aG154mI5a6e546w5rWP6KeI5Zmo5Y2z5byA5Y2z55So77yM6YWN5ZCI5qGM6Z2i5bqU55So5YiH5o2i5Yqf6IO977yM5Y+v5Zyo5LiN5ZCM6K6+5aSH6Ze05L+d5oyB5a6M5YWo5LiA6Ie055qE57yW6L6R55WM6Z2i5ZKM5bel5L2c6L+b5bqm44CCXG4jIyMg57uf5LiA6LSm5oi35L2T57O7XG7kvb/nlKhNaWNyb3NvZnQgMzY16LSm5oi355m75b2V5omA5pyJ5bmz5Y+w77yM5paH5qGj5p2D6ZmQ5ZKM6K6/6Zeu6K6w5b2V5a6e5pe25ZCM5q2l77yM56e75Yqo56uv5pSv5oyB56a757q/57yW6L6R5ZCO6Ieq5Yqo5ZCM5q2l5pu05paw44CCXG4jIyMg54mI5pys5LiA6Ie05oCn5L+d6ZqcXG7ln7rkuo7kupHlrZjlgqjnmoToh6rliqjkv53lrZjmnLrliLbnoa7kv53lkITnu4jnq6/lp4vnu4jojrflj5bmnIDmlrDniYjmnKzvvIzkv67mlLnlhrLnqoHml7bns7vnu5/kvJrmj5DnpLrniYjmnKzlt67lvILlubbmj5DkvpvlkIjlubbpgInpobnjgIIiLCJ0cGxpZCI6IjEzNyIsInRwbE5hbWUiOiJsaXN0M18yMDI1MDcwMzE2IiwiZWRpdGVkIjoiZmFsc2UifQ==</bd:templateData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7169" y="2514394"/>
            <a:ext cx="6164285" cy="1752211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45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Office高级技巧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673160" y="1704797"/>
            <a:ext cx="1868805" cy="75819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</a:rPr>
              <a:t>PART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6544494" y="1514414"/>
            <a:ext cx="971706" cy="1138956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200" b="1">
                <a:solidFill>
                  <a:srgbClr val="F098B1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eyJfdGVtcGxhdGVEYXRhIjp7ImNvbnRlbnRUeXBlIjoiJG51bWJlciIsImxpbmVDb3VudCI6IjEiLCJ3b3JkQ291bnQiOiIxIn0sInRhZyI6Im5vRWRpdCJ9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eyJtZCI6IiMjIE9mZmljZemrmOe6p+aKgOW3pyIsInRwbGlkIjoiMTM3IiwidHBsTmFtZSI6ImgydGl0bGVfMTM3a2FpeHVlIiwiZWRpdGVkIjoiZmFsc2UifQ==</bd:templateData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宏录制与应用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 rot="2700000">
            <a:off x="1608934" y="1966945"/>
            <a:ext cx="1796464" cy="1796464"/>
          </a:xfrm>
          <a:prstGeom prst="roundRect">
            <a:avLst>
              <a:gd name="adj" fmla="val 16667"/>
            </a:avLst>
          </a:prstGeom>
          <a:solidFill>
            <a:schemeClr val="accent1">
              <a:alpha val="100000"/>
              <a:lumMod val="75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rcRect l="16770" r="16770"/>
          <a:stretch>
            <a:fillRect/>
          </a:stretch>
        </p:blipFill>
        <p:spPr>
          <a:xfrm>
            <a:off x="1608934" y="1965191"/>
            <a:ext cx="1794813" cy="1799972"/>
          </a:xfrm>
          <a:prstGeom prst="roundRect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5" name="TextBox 5"/>
          <p:cNvSpPr txBox="1"/>
          <p:nvPr/>
        </p:nvSpPr>
        <p:spPr>
          <a:xfrm>
            <a:off x="949625" y="3954618"/>
            <a:ext cx="3115083" cy="738707"/>
          </a:xfrm>
          <a:prstGeom prst="rect">
            <a:avLst/>
          </a:prstGeom>
          <a:ln/>
        </p:spPr>
        <p:txBody>
          <a:bodyPr vert="horz" wrap="square" lIns="57150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自动化重复操作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1057228" y="4621348"/>
            <a:ext cx="3048547" cy="1643668"/>
          </a:xfrm>
          <a:prstGeom prst="rect">
            <a:avLst/>
          </a:prstGeom>
          <a:ln/>
        </p:spPr>
        <p:txBody>
          <a:bodyPr vert="horz" wrap="square" lIns="57150" tIns="57150" rIns="57150" bIns="5715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宏录制器能记录用户在Excel中的操作步骤（如格式设置、数据导入等），生成VBA代码，后续通过快捷键或按钮一键执行，显著提升批量处理效率。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eyJfdGVtcGxhdGVEYXRhIjp7ImNvbnRlbnRUeXBlIjoiJGl0ZW0xX2MiLCJsaW5lQ291bnQiOiI1Iiwid29yZENvdW50IjoiMTQifSwidGFnIjoiJGl0ZW0xX2MifQ==</bd:templateData>
          </p:ext>
        </p:extLst>
      </p:sp>
      <p:sp>
        <p:nvSpPr>
          <p:cNvPr id="7" name="AutoShape 7"/>
          <p:cNvSpPr/>
          <p:nvPr/>
        </p:nvSpPr>
        <p:spPr>
          <a:xfrm rot="2700000">
            <a:off x="5206201" y="1966945"/>
            <a:ext cx="1796464" cy="1796464"/>
          </a:xfrm>
          <a:prstGeom prst="roundRect">
            <a:avLst>
              <a:gd name="adj" fmla="val 16667"/>
            </a:avLst>
          </a:prstGeom>
          <a:solidFill>
            <a:schemeClr val="accent3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5206201" y="1965191"/>
            <a:ext cx="1794813" cy="1799972"/>
          </a:xfrm>
          <a:prstGeom prst="roundRect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9" name="TextBox 9"/>
          <p:cNvSpPr txBox="1"/>
          <p:nvPr/>
        </p:nvSpPr>
        <p:spPr>
          <a:xfrm>
            <a:off x="4551539" y="3954618"/>
            <a:ext cx="3088468" cy="738707"/>
          </a:xfrm>
          <a:prstGeom prst="rect">
            <a:avLst/>
          </a:prstGeom>
          <a:ln/>
        </p:spPr>
        <p:txBody>
          <a:bodyPr vert="horz" wrap="square" lIns="57150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3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跨工作簿应用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638036" y="4621348"/>
            <a:ext cx="3021933" cy="1643668"/>
          </a:xfrm>
          <a:prstGeom prst="rect">
            <a:avLst/>
          </a:prstGeom>
          <a:ln/>
        </p:spPr>
        <p:txBody>
          <a:bodyPr vert="horz" wrap="square" lIns="57150" tIns="57150" rIns="57150" bIns="5715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将宏保存在"个人宏工作簿"可使所有Excel文件共享宏功能，特别适合需要标准化操作的场景（如每周报表生成）。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eyJfdGVtcGxhdGVEYXRhIjp7ImNvbnRlbnRUeXBlIjoiJGl0ZW0yX2MiLCJsaW5lQ291bnQiOiI1Iiwid29yZENvdW50IjoiMTQifSwidGFnIjoiJGl0ZW0yX2MifQ==</bd:templateData>
          </p:ext>
        </p:extLst>
      </p:sp>
      <p:sp>
        <p:nvSpPr>
          <p:cNvPr id="11" name="AutoShape 11"/>
          <p:cNvSpPr/>
          <p:nvPr/>
        </p:nvSpPr>
        <p:spPr>
          <a:xfrm rot="2700000">
            <a:off x="8717324" y="1966945"/>
            <a:ext cx="1796464" cy="1796464"/>
          </a:xfrm>
          <a:prstGeom prst="roundRect">
            <a:avLst>
              <a:gd name="adj" fmla="val 16667"/>
            </a:avLst>
          </a:prstGeom>
          <a:solidFill>
            <a:schemeClr val="accent6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alphaModFix/>
          </a:blip>
          <a:srcRect l="33630" r="33630"/>
          <a:stretch>
            <a:fillRect/>
          </a:stretch>
        </p:blipFill>
        <p:spPr>
          <a:xfrm>
            <a:off x="8717324" y="1965191"/>
            <a:ext cx="1794813" cy="1799972"/>
          </a:xfrm>
          <a:prstGeom prst="roundRect">
            <a:avLst/>
          </a:prstGeom>
          <a:ln w="19050">
            <a:solidFill>
              <a:schemeClr val="accent1"/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13" name="TextBox 13"/>
          <p:cNvSpPr txBox="1"/>
          <p:nvPr/>
        </p:nvSpPr>
        <p:spPr>
          <a:xfrm>
            <a:off x="8104590" y="3954618"/>
            <a:ext cx="3021933" cy="738707"/>
          </a:xfrm>
          <a:prstGeom prst="rect">
            <a:avLst/>
          </a:prstGeom>
          <a:ln/>
        </p:spPr>
        <p:txBody>
          <a:bodyPr vert="horz" wrap="square" lIns="57150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6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错误规避策略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8198886" y="4621348"/>
            <a:ext cx="2982011" cy="1643668"/>
          </a:xfrm>
          <a:prstGeom prst="rect">
            <a:avLst/>
          </a:prstGeom>
          <a:ln/>
        </p:spPr>
        <p:txBody>
          <a:bodyPr vert="horz" wrap="square" lIns="57150" tIns="57150" rIns="57150" bIns="5715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录制宏时应避免选择绝对单元格引用（如A1:B10），改用相对引用确保宏能适应不同数据范围，防止运行时错位。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eyJfdGVtcGxhdGVEYXRhIjp7ImNvbnRlbnRUeXBlIjoiJGl0ZW0zX2MiLCJsaW5lQ291bnQiOiI1Iiwid29yZENvdW50IjoiMTQifSwidGFnIjoiJGl0ZW0zX2MifQ==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uj+W9leWItuS4juW6lOeUqFxuIyMjIOiHquWKqOWMlumHjeWkjeaTjeS9nFxu5a6P5b2V5Yi25Zmo6IO96K6w5b2V55So5oi35ZyoRXhjZWzkuK3nmoTmk43kvZzmraXpqqTvvIjlpoLmoLzlvI/orr7nva7jgIHmlbDmja7lr7zlhaXnrYnvvInvvIznlJ/miJBWQkHku6PnoIHvvIzlkI7nu63pgJrov4flv6vmjbfplK7miJbmjInpkq7kuIDplK7miafooYzvvIzmmL7okZfmj5DljYfmibnph4/lpITnkIbmlYjnjofjgIJcbiMjIyDot6jlt6XkvZznsL/lupTnlKhcbuWwhuWuj+S/neWtmOWcqFwi5Liq5Lq65a6P5bel5L2c57C/XCLlj6/kvb/miYDmnIlFeGNlbOaWh+S7tuWFseS6q+Wuj+WKn+iDve+8jOeJueWIq+mAguWQiOmcgOimgeagh+WHhuWMluaTjeS9nOeahOWcuuaZr++8iOWmguavj+WRqOaKpeihqOeUn+aIkO+8ieOAglxuIyMjIOmUmeivr+inhOmBv+etlueVpVxu5b2V5Yi25a6P5pe25bqU6YG/5YWN6YCJ5oup57ud5a+55Y2V5YWD5qC85byV55So77yI5aaCQTE6QjEw77yJ77yM5pS555So55u45a+55byV55So56Gu5L+d5a6P6IO96YCC5bqU5LiN5ZCM5pWw5o2u6IyD5Zu077yM6Ziy5q2i6L+Q6KGM5pe26ZSZ5L2N44CCIiwidHBsaWQiOiIxMzciLCJ0cGxOYW1lIjoibGlzdDNfMjAyNTA2MjYwMyIsImVkaXRlZCI6ImZhbHNlIn0=</bd:templateData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1988" y="1845509"/>
            <a:ext cx="4092893" cy="40925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02027" y="2155390"/>
            <a:ext cx="3472815" cy="3472815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TextBox 4"/>
          <p:cNvSpPr txBox="1"/>
          <p:nvPr/>
        </p:nvSpPr>
        <p:spPr>
          <a:xfrm>
            <a:off x="6097260" y="3180638"/>
            <a:ext cx="5610225" cy="74986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保存为.dotm格式可嵌入VBA宏，实现模板打开时自动运行预设操作（如自动更新目录、校验数据格式）。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eyJfdGVtcGxhdGVEYXRhIjp7ImNvbnRlbnRUeXBlIjoiJGl0ZW0yX2MiLCJsaW5lQ291bnQiOiIyIiwid29yZENvdW50IjoiMjcifSwidGFnIjoiJGl0ZW0yX2MifQ==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6097260" y="2722499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宏集成模板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6097260" y="4437395"/>
            <a:ext cx="5610225" cy="7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将常用模板存储在"自定义Office模板"系统文件夹，通过文件&gt;新建界面直接调用，避免重复创建基础框架。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eyJfdGVtcGxhdGVEYXRhIjp7ImNvbnRlbnRUeXBlIjoiJGl0ZW0zX2MiLCJsaW5lQ291bnQiOiIyIiwid29yZENvdW50IjoiMjcifSwidGFnIjoiJGl0ZW0zX2MifQ==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6097260" y="3979255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快速访问路径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8" name="AutoShape 8"/>
          <p:cNvSpPr/>
          <p:nvPr/>
        </p:nvSpPr>
        <p:spPr>
          <a:xfrm>
            <a:off x="5233189" y="2868543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5233189" y="41253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4471189" y="537336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471189" y="16422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470237" y="1782217"/>
            <a:ext cx="76390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5232236" y="3008561"/>
            <a:ext cx="76390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5248581" y="4265317"/>
            <a:ext cx="74485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470237" y="5513381"/>
            <a:ext cx="76390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5418969" y="1989857"/>
            <a:ext cx="5902509" cy="7326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在Word模板中添加下拉列表、日期选择器等交互元素（需开启开发工具选项卡），使模板使用者能快速输入标准化内容。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eyJfdGVtcGxhdGVEYXRhIjp7ImNvbnRlbnRUeXBlIjoiJGl0ZW0xX2MiLCJsaW5lQ291bnQiOiIyIiwid29yZENvdW50IjoiMjkifSwidGFnIjoiJGl0ZW0xX2MifQ==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5418969" y="1531718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启用内容控件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387222" y="5699240"/>
            <a:ext cx="5610225" cy="74986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早期版本模板需通过"文件&gt;信息&gt;转换"升级为新格式，才能支持现代内容控件和宏功能。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eyJfdGVtcGxhdGVEYXRhIjp7ImNvbnRlbnRUeXBlIjoiJGl0ZW00X2MiLCJsaW5lQ291bnQiOiIyIiwid29yZENvdW50IjoiMjcifSwidGFnIjoiJGl0ZW00X2MifQ==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5387222" y="5241100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版本兼容处理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模板自定义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ooeadv+iHquWumuS5iVxuIyMjIOWQr+eUqOWGheWuueaOp+S7tlxu5ZyoV29yZOaooeadv+S4rea3u+WKoOS4i+aLieWIl+ihqOOAgeaXpeacn+mAieaLqeWZqOetieS6pOS6kuWFg+e0oO+8iOmcgOW8gOWQr+W8gOWPkeW3peWFt+mAiemhueWNoe+8ie+8jOS9v+aooeadv+S9v+eUqOiAheiDveW/q+mAn+i+k+WFpeagh+WHhuWMluWGheWuueOAglxuIyMjIOWuj+mbhuaIkOaooeadv1xu5L+d5a2Y5Li6LmRvdG3moLzlvI/lj6/ltYzlhaVWQkHlro/vvIzlrp7njrDmqKHmnb/miZPlvIDml7boh6rliqjov5DooYzpooTorr7mk43kvZzvvIjlpoLoh6rliqjmm7TmlrDnm67lvZXjgIHmoKHpqozmlbDmja7moLzlvI/vvInjgIJcbiMjIyDlv6vpgJ/orr/pl67ot6/lvoRcbuWwhuW4uOeUqOaooeadv+WtmOWCqOWcqFwi6Ieq5a6a5LmJT2ZmaWNl5qih5p2/XCLns7vnu5/mlofku7blpLnvvIzpgJrov4fmlofku7Y+5paw5bu655WM6Z2i55u05o6l6LCD55So77yM6YG/5YWN6YeN5aSN5Yib5bu65Z+656GA5qGG5p6244CCXG4jIyMg54mI5pys5YW85a655aSE55CGXG7ml6nmnJ/niYjmnKzmqKHmnb/pnIDpgJrov4dcIuaWh+S7tj7kv6Hmga8+6L2s5o2iXCLljYfnuqfkuLrmlrDmoLzlvI/vvIzmiY3og73mlK/mjIHnjrDku6PlhoXlrrnmjqfku7blkozlro/lip/og73jgIIiLCJ0cGxpZCI6IjEzNyIsInRwbE5hbWUiOiJsaXN0NF9JbWdXTEwyNDAzMjgwMSIsImVkaXRlZCI6ImZhbHNlIn0=</bd:templateData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快捷键组合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t="7675" b="7675"/>
          <a:stretch>
            <a:fillRect/>
          </a:stretch>
        </p:blipFill>
        <p:spPr>
          <a:xfrm>
            <a:off x="7991940" y="1518027"/>
            <a:ext cx="3605507" cy="22890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/>
          </a:blip>
          <a:srcRect t="2373" b="2373"/>
          <a:stretch>
            <a:fillRect/>
          </a:stretch>
        </p:blipFill>
        <p:spPr>
          <a:xfrm>
            <a:off x="7991940" y="3957279"/>
            <a:ext cx="3605507" cy="22890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/>
          </a:blip>
          <a:srcRect t="957" b="957"/>
          <a:stretch>
            <a:fillRect/>
          </a:stretch>
        </p:blipFill>
        <p:spPr>
          <a:xfrm>
            <a:off x="638095" y="3957279"/>
            <a:ext cx="3496249" cy="2289021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6" name="AutoShape 6"/>
          <p:cNvSpPr/>
          <p:nvPr/>
        </p:nvSpPr>
        <p:spPr>
          <a:xfrm>
            <a:off x="638095" y="1518027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eyJfdGVtcGxhdGVEYXRhIjp7ImxpbmVDb3VudCI6IjE1Iiwid29yZENvdW50IjoiMjcifSwidGFnIjoibm9FZGl0In0=</bd:templateData>
          </p:ext>
        </p:extLst>
      </p:sp>
      <p:sp>
        <p:nvSpPr>
          <p:cNvPr id="7" name="AutoShape 7"/>
          <p:cNvSpPr/>
          <p:nvPr/>
        </p:nvSpPr>
        <p:spPr>
          <a:xfrm>
            <a:off x="625301" y="1689543"/>
            <a:ext cx="3083593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839326" y="1723147"/>
            <a:ext cx="2596996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宏触发快捷键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839326" y="2347530"/>
            <a:ext cx="3143676" cy="1342172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录制宏时可指定Ctrl+字母组合键（如Ctrl+Q），实现不打开开发工具选项卡直接运行高频操作。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eyJfdGVtcGxhdGVEYXRhIjp7ImNvbnRlbnRUeXBlIjoiJGl0ZW0xX2MiLCJsaW5lQ291bnQiOiI0Iiwid29yZENvdW50IjoiMTUifSwidGFnIjoiJGl0ZW0xX2MifQ==</bd:templateData>
          </p:ext>
        </p:extLst>
      </p:sp>
      <p:sp>
        <p:nvSpPr>
          <p:cNvPr id="10" name="AutoShape 10"/>
          <p:cNvSpPr/>
          <p:nvPr/>
        </p:nvSpPr>
        <p:spPr>
          <a:xfrm>
            <a:off x="4311405" y="1518027"/>
            <a:ext cx="3496249" cy="2289021"/>
          </a:xfrm>
          <a:prstGeom prst="rect">
            <a:avLst/>
          </a:prstGeom>
          <a:grp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5549481" y="1689543"/>
            <a:ext cx="1619808" cy="493623"/>
          </a:xfrm>
          <a:prstGeom prst="rect">
            <a:avLst/>
          </a:prstGeom>
          <a:grpFill/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311405" y="1689543"/>
            <a:ext cx="3077676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eyJfdGVtcGxhdGVEYXRhIjp7ImNvbnRlbnRUeXBlIjoiIn0sInRhZyI6Im5vRWRpdCJ9</bd:templateData>
          </p:ext>
        </p:extLst>
      </p:sp>
      <p:sp>
        <p:nvSpPr>
          <p:cNvPr id="13" name="AutoShape 13"/>
          <p:cNvSpPr/>
          <p:nvPr/>
        </p:nvSpPr>
        <p:spPr>
          <a:xfrm>
            <a:off x="4311405" y="3957279"/>
            <a:ext cx="3496249" cy="2289021"/>
          </a:xfrm>
          <a:prstGeom prst="rect">
            <a:avLst/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eyJfdGVtcGxhdGVEYXRhIjp7ImxpbmVDb3VudCI6IjE1Iiwid29yZENvdW50IjoiMjcifSwidGFnIjoibm9FZGl0In0=</bd:templateData>
          </p:ext>
        </p:extLst>
      </p:sp>
      <p:sp>
        <p:nvSpPr>
          <p:cNvPr id="14" name="AutoShape 14"/>
          <p:cNvSpPr/>
          <p:nvPr/>
        </p:nvSpPr>
        <p:spPr>
          <a:xfrm>
            <a:off x="4298610" y="4128795"/>
            <a:ext cx="3017058" cy="493623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512635" y="4176954"/>
            <a:ext cx="2596996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自定义快速访问栏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4512635" y="4786783"/>
            <a:ext cx="3143676" cy="1355479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将宏按钮添加到工具栏并分配Alt+数字序号（如Alt+1），形成个性化快捷指令集。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eyJfdGVtcGxhdGVEYXRhIjp7ImNvbnRlbnRUeXBlIjoiJGl0ZW0zX2MiLCJsaW5lQ291bnQiOiI0Iiwid29yZENvdW50IjoiMTUifSwidGFnIjoiJGl0ZW0zX2MifQ==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4487691" y="2296401"/>
            <a:ext cx="3143676" cy="13933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Alt键序列（如Alt→H→V→S）可快速访问粘贴数值等隐藏功能，比鼠标操作节省50%以上时间。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eyJfdGVtcGxhdGVEYXRhIjp7ImNvbnRlbnRUeXBlIjoiJGl0ZW0yX2MiLCJsaW5lQ291bnQiOiI0Iiwid29yZENvdW50IjoiMTUifSwidGFnIjoiJGl0ZW0yX2MifQ==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4487691" y="1723147"/>
            <a:ext cx="2596996" cy="3973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导航效率提升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/q+aNt+mUrue7hOWQiFxuIyMjIOWuj+inpuWPkeW/q+aNt+mUrlxu5b2V5Yi25a6P5pe25Y+v5oyH5a6aQ3RybCvlrZfmr43nu4TlkIjplK7vvIjlpoJDdHJsK1HvvInvvIzlrp7njrDkuI3miZPlvIDlvIDlj5Hlt6XlhbfpgInpobnljaHnm7TmjqXov5DooYzpq5jpopHmk43kvZzjgIJcbiMjIyDlr7zoiKrmlYjnjofmj5DljYdcbkFsdOmUruW6j+WIl++8iOWmgkFsdOKGkkjihpJW4oaSU++8ieWPr+W/q+mAn+iuv+mXrueymOi0tOaVsOWAvOetiemakOiXj+WKn+iDve+8jOavlOm8oOagh+aTjeS9nOiKguecgTUwJeS7peS4iuaXtumXtOOAglxuIyMjIOiHquWumuS5ieW/q+mAn+iuv+mXruagj1xu5bCG5a6P5oyJ6ZKu5re75Yqg5Yiw5bel5YW35qCP5bm25YiG6YWNQWx0K+aVsOWtl+W6j+WPt++8iOWmgkFsdCsx77yJ77yM5b2i5oiQ5Liq5oCn5YyW5b+r5o235oyH5Luk6ZuG44CCIiwidHBsaWQiOiIxMzciLCJ0cGxOYW1lIjoibGlzdDNfMjAyNTA3MDMyMyIsImVkaXRlZCI6ImZhbHNlIn0=</bd:templateData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81326" y="2530851"/>
            <a:ext cx="4535805" cy="14344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8000">
                <a:solidFill>
                  <a:srgbClr val="000000">
                    <a:alpha val="100000"/>
                  </a:srgbClr>
                </a:solidFill>
                <a:latin typeface="仓耳渔阳体 W05"/>
                <a:ea typeface="仓耳渔阳体 W05"/>
                <a:cs typeface="仓耳渔阳体 W05"/>
              </a:rPr>
              <a:t>感谢观看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eyJtZCI6IiIsInRwbGlkIjoiMTM3IiwidHBsTmFtZSI6ImVuZF8xMzdrYWl4dWUiLCJlZGl0ZWQiOiJmYWxzZSJ9</bd:templateData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5ED"/>
      </a:lt1>
      <a:dk2>
        <a:srgbClr val="0179C6"/>
      </a:dk2>
      <a:lt2>
        <a:srgbClr val="FFE9D7"/>
      </a:lt2>
      <a:accent1>
        <a:srgbClr val="FF749C"/>
      </a:accent1>
      <a:accent2>
        <a:srgbClr val="FF749C"/>
      </a:accent2>
      <a:accent3>
        <a:srgbClr val="F45C88"/>
      </a:accent3>
      <a:accent4>
        <a:srgbClr val="EE4B66"/>
      </a:accent4>
      <a:accent5>
        <a:srgbClr val="EE3D37"/>
      </a:accent5>
      <a:accent6>
        <a:srgbClr val="F1773B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1060</Words>
  <Application>Microsoft Office PowerPoint</Application>
  <PresentationFormat>宽屏</PresentationFormat>
  <Paragraphs>196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Noto Sans SC</vt:lpstr>
      <vt:lpstr>仓耳渔阳体 W05</vt:lpstr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u wu</cp:lastModifiedBy>
  <cp:revision>3</cp:revision>
  <dcterms:created xsi:type="dcterms:W3CDTF">2025-10-20T11:38:53Z</dcterms:created>
  <dcterms:modified xsi:type="dcterms:W3CDTF">2026-01-04T10:15:31Z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0f1cae09c0ff031697586bf629c9fc1f_1767521284_7501849fb7dcb16455c668d692378cf8","ReservedCode1":"625a2edb1de42e3cb8621120f092df64c5545097fa3fc371d84c76fba1060321","ContentPropagator":"001191110000802100433B10001","PropagateID":"0f1cae09c0ff031697586bf629c9fc1f_1767521284_7501849fb7dcb16455c668d692378cf8","ReservedCode2":"625a2edb1de42e3cb8621120f092df64c5545097fa3fc371d84c76fba1060321"}</vt:lpwstr>
  </property>
</Properties>
</file>